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138" r:id="rId1"/>
  </p:sldMasterIdLst>
  <p:notesMasterIdLst>
    <p:notesMasterId r:id="rId28"/>
  </p:notesMasterIdLst>
  <p:sldIdLst>
    <p:sldId id="256" r:id="rId2"/>
    <p:sldId id="257" r:id="rId3"/>
    <p:sldId id="301" r:id="rId4"/>
    <p:sldId id="299" r:id="rId5"/>
    <p:sldId id="258" r:id="rId6"/>
    <p:sldId id="259" r:id="rId7"/>
    <p:sldId id="260" r:id="rId8"/>
    <p:sldId id="261" r:id="rId9"/>
    <p:sldId id="262" r:id="rId10"/>
    <p:sldId id="302" r:id="rId11"/>
    <p:sldId id="268" r:id="rId12"/>
    <p:sldId id="269" r:id="rId13"/>
    <p:sldId id="270" r:id="rId14"/>
    <p:sldId id="288" r:id="rId15"/>
    <p:sldId id="264" r:id="rId16"/>
    <p:sldId id="289" r:id="rId17"/>
    <p:sldId id="290" r:id="rId18"/>
    <p:sldId id="292" r:id="rId19"/>
    <p:sldId id="293" r:id="rId20"/>
    <p:sldId id="294" r:id="rId21"/>
    <p:sldId id="295" r:id="rId22"/>
    <p:sldId id="303" r:id="rId23"/>
    <p:sldId id="296" r:id="rId24"/>
    <p:sldId id="297" r:id="rId25"/>
    <p:sldId id="298" r:id="rId26"/>
    <p:sldId id="300" r:id="rId27"/>
  </p:sldIdLst>
  <p:sldSz cx="10080625" cy="5670550"/>
  <p:notesSz cx="7559675" cy="106918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86">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389" y="77"/>
      </p:cViewPr>
      <p:guideLst>
        <p:guide orient="horz" pos="1786"/>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35B0D45-C5C6-4840-A240-81FE844FAD80}" type="datetimeFigureOut">
              <a:rPr lang="en-US" smtClean="0"/>
              <a:pPr/>
              <a:t>1/26/2026</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B2BB0686-6ADC-4D72-BD2F-5A2689CFBA7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191112" y="201620"/>
            <a:ext cx="9694201" cy="5273611"/>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917757" y="729594"/>
            <a:ext cx="8240911" cy="2419435"/>
          </a:xfrm>
        </p:spPr>
        <p:txBody>
          <a:bodyPr anchor="b">
            <a:normAutofit/>
          </a:bodyPr>
          <a:lstStyle>
            <a:lvl1pPr algn="ctr">
              <a:lnSpc>
                <a:spcPct val="85000"/>
              </a:lnSpc>
              <a:defRPr sz="5953"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413478" y="3199614"/>
            <a:ext cx="7249468" cy="1147807"/>
          </a:xfrm>
        </p:spPr>
        <p:txBody>
          <a:bodyPr>
            <a:normAutofit/>
          </a:bodyPr>
          <a:lstStyle>
            <a:lvl1pPr marL="0" indent="0" algn="ctr">
              <a:buNone/>
              <a:defRPr sz="1819">
                <a:solidFill>
                  <a:srgbClr val="FFFFFF"/>
                </a:solidFill>
              </a:defRPr>
            </a:lvl1pPr>
            <a:lvl2pPr marL="378013" indent="0" algn="ctr">
              <a:buNone/>
              <a:defRPr sz="1819"/>
            </a:lvl2pPr>
            <a:lvl3pPr marL="756026" indent="0" algn="ctr">
              <a:buNone/>
              <a:defRPr sz="1819"/>
            </a:lvl3pPr>
            <a:lvl4pPr marL="1134039" indent="0" algn="ctr">
              <a:buNone/>
              <a:defRPr sz="1654"/>
            </a:lvl4pPr>
            <a:lvl5pPr marL="1512052" indent="0" algn="ctr">
              <a:buNone/>
              <a:defRPr sz="1654"/>
            </a:lvl5pPr>
            <a:lvl6pPr marL="1890065" indent="0" algn="ctr">
              <a:buNone/>
              <a:defRPr sz="1654"/>
            </a:lvl6pPr>
            <a:lvl7pPr marL="2268078" indent="0" algn="ctr">
              <a:buNone/>
              <a:defRPr sz="1654"/>
            </a:lvl7pPr>
            <a:lvl8pPr marL="2646091" indent="0" algn="ctr">
              <a:buNone/>
              <a:defRPr sz="1654"/>
            </a:lvl8pPr>
            <a:lvl9pPr marL="3024104" indent="0" algn="ctr">
              <a:buNone/>
              <a:defRPr sz="165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B61BEF0D-F0BB-DE4B-95CE-6DB70DBA9567}" type="datetimeFigureOut">
              <a:rPr lang="en-US" smtClean="0"/>
              <a:pPr/>
              <a:t>1/26/2026</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57F1E4F-1CFF-5643-939E-217C01CDF565}" type="slidenum">
              <a:rPr lang="en-US" smtClean="0"/>
              <a:pPr/>
              <a:t>‹#›</a:t>
            </a:fld>
            <a:endParaRPr lang="en-US" dirty="0"/>
          </a:p>
        </p:txBody>
      </p:sp>
      <p:cxnSp>
        <p:nvCxnSpPr>
          <p:cNvPr id="8" name="Straight Connector 7"/>
          <p:cNvCxnSpPr/>
          <p:nvPr/>
        </p:nvCxnSpPr>
        <p:spPr>
          <a:xfrm>
            <a:off x="1636002" y="3087299"/>
            <a:ext cx="6804423"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3788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5219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817" y="970372"/>
            <a:ext cx="8240911" cy="2419435"/>
          </a:xfrm>
        </p:spPr>
        <p:txBody>
          <a:bodyPr anchor="b">
            <a:noAutofit/>
          </a:bodyPr>
          <a:lstStyle>
            <a:lvl1pPr algn="ctr">
              <a:lnSpc>
                <a:spcPct val="85000"/>
              </a:lnSpc>
              <a:defRPr sz="5953"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413807" y="3435172"/>
            <a:ext cx="7250490" cy="1127666"/>
          </a:xfrm>
        </p:spPr>
        <p:txBody>
          <a:bodyPr anchor="t">
            <a:normAutofit/>
          </a:bodyPr>
          <a:lstStyle>
            <a:lvl1pPr marL="0" indent="0" algn="ctr">
              <a:buNone/>
              <a:defRPr sz="1819">
                <a:solidFill>
                  <a:schemeClr val="accent1"/>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7" name="Straight Connector 6"/>
          <p:cNvCxnSpPr/>
          <p:nvPr/>
        </p:nvCxnSpPr>
        <p:spPr>
          <a:xfrm>
            <a:off x="1638102" y="3324282"/>
            <a:ext cx="680442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5443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5058" y="1701164"/>
            <a:ext cx="3931444" cy="3326723"/>
          </a:xfrm>
        </p:spPr>
        <p:txBody>
          <a:bodyPr/>
          <a:lstStyle>
            <a:lvl1pPr>
              <a:defRPr sz="1819"/>
            </a:lvl1pPr>
            <a:lvl2pPr>
              <a:defRPr sz="1654"/>
            </a:lvl2pPr>
            <a:lvl3pPr>
              <a:defRPr sz="1488"/>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82205" y="1701165"/>
            <a:ext cx="3931444" cy="3326723"/>
          </a:xfrm>
        </p:spPr>
        <p:txBody>
          <a:bodyPr/>
          <a:lstStyle>
            <a:lvl1pPr>
              <a:defRPr sz="1819"/>
            </a:lvl1pPr>
            <a:lvl2pPr>
              <a:defRPr sz="1654"/>
            </a:lvl2pPr>
            <a:lvl3pPr>
              <a:defRPr sz="1488"/>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5357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5058" y="1654953"/>
            <a:ext cx="3931444" cy="642662"/>
          </a:xfrm>
        </p:spPr>
        <p:txBody>
          <a:bodyPr anchor="ctr"/>
          <a:lstStyle>
            <a:lvl1pPr marL="0" indent="0">
              <a:spcBef>
                <a:spcPts val="0"/>
              </a:spcBef>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US"/>
              <a:t>Click to edit Master text styles</a:t>
            </a:r>
          </a:p>
        </p:txBody>
      </p:sp>
      <p:sp>
        <p:nvSpPr>
          <p:cNvPr id="4" name="Content Placeholder 3"/>
          <p:cNvSpPr>
            <a:spLocks noGrp="1"/>
          </p:cNvSpPr>
          <p:nvPr>
            <p:ph sz="half" idx="2"/>
          </p:nvPr>
        </p:nvSpPr>
        <p:spPr>
          <a:xfrm>
            <a:off x="945058" y="2250263"/>
            <a:ext cx="3931444" cy="2797471"/>
          </a:xfrm>
        </p:spPr>
        <p:txBody>
          <a:bodyPr/>
          <a:lstStyle>
            <a:lvl1pPr>
              <a:defRPr sz="1819"/>
            </a:lvl1pPr>
            <a:lvl2pPr>
              <a:defRPr sz="1654"/>
            </a:lvl2pPr>
            <a:lvl3pPr>
              <a:defRPr sz="1488"/>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83496" y="1652903"/>
            <a:ext cx="3931444" cy="642662"/>
          </a:xfrm>
        </p:spPr>
        <p:txBody>
          <a:bodyPr anchor="ctr"/>
          <a:lstStyle>
            <a:lvl1pPr marL="0" indent="0">
              <a:spcBef>
                <a:spcPts val="0"/>
              </a:spcBef>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US"/>
              <a:t>Click to edit Master text styles</a:t>
            </a:r>
          </a:p>
        </p:txBody>
      </p:sp>
      <p:sp>
        <p:nvSpPr>
          <p:cNvPr id="6" name="Content Placeholder 5"/>
          <p:cNvSpPr>
            <a:spLocks noGrp="1"/>
          </p:cNvSpPr>
          <p:nvPr>
            <p:ph sz="quarter" idx="4"/>
          </p:nvPr>
        </p:nvSpPr>
        <p:spPr>
          <a:xfrm>
            <a:off x="5183496" y="2248477"/>
            <a:ext cx="3931444" cy="2797471"/>
          </a:xfrm>
        </p:spPr>
        <p:txBody>
          <a:bodyPr/>
          <a:lstStyle>
            <a:lvl1pPr>
              <a:defRPr sz="1819"/>
            </a:lvl1pPr>
            <a:lvl2pPr>
              <a:defRPr sz="1654"/>
            </a:lvl2pPr>
            <a:lvl3pPr>
              <a:defRPr sz="1488"/>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43696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90028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4956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45058" y="907288"/>
            <a:ext cx="3251002" cy="1436539"/>
          </a:xfrm>
        </p:spPr>
        <p:txBody>
          <a:bodyPr anchor="b">
            <a:noAutofit/>
          </a:bodyPr>
          <a:lstStyle>
            <a:lvl1pPr>
              <a:lnSpc>
                <a:spcPct val="90000"/>
              </a:lnSpc>
              <a:defRPr sz="3307" b="0"/>
            </a:lvl1pPr>
          </a:lstStyle>
          <a:p>
            <a:r>
              <a:rPr lang="en-US"/>
              <a:t>Click to edit Master title style</a:t>
            </a:r>
            <a:endParaRPr lang="en-US" dirty="0"/>
          </a:p>
        </p:txBody>
      </p:sp>
      <p:sp>
        <p:nvSpPr>
          <p:cNvPr id="3" name="Content Placeholder 2"/>
          <p:cNvSpPr>
            <a:spLocks noGrp="1"/>
          </p:cNvSpPr>
          <p:nvPr>
            <p:ph idx="1"/>
          </p:nvPr>
        </p:nvSpPr>
        <p:spPr>
          <a:xfrm>
            <a:off x="4838699" y="907288"/>
            <a:ext cx="4309467" cy="3855974"/>
          </a:xfrm>
        </p:spPr>
        <p:txBody>
          <a:bodyPr/>
          <a:lstStyle>
            <a:lvl1pPr>
              <a:defRPr sz="2646"/>
            </a:lvl1pPr>
            <a:lvl2pPr>
              <a:defRPr sz="2315"/>
            </a:lvl2pPr>
            <a:lvl3pPr>
              <a:defRPr sz="1984"/>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45058" y="2343827"/>
            <a:ext cx="3251002" cy="2495042"/>
          </a:xfrm>
        </p:spPr>
        <p:txBody>
          <a:bodyPr>
            <a:normAutofit/>
          </a:bodyPr>
          <a:lstStyle>
            <a:lvl1pPr marL="0" indent="0">
              <a:lnSpc>
                <a:spcPct val="100000"/>
              </a:lnSpc>
              <a:spcBef>
                <a:spcPts val="827"/>
              </a:spcBef>
              <a:buNone/>
              <a:defRPr sz="1406"/>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61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45058" y="907288"/>
            <a:ext cx="3251002" cy="1436539"/>
          </a:xfrm>
        </p:spPr>
        <p:txBody>
          <a:bodyPr anchor="b">
            <a:noAutofit/>
          </a:bodyPr>
          <a:lstStyle>
            <a:lvl1pPr>
              <a:lnSpc>
                <a:spcPct val="90000"/>
              </a:lnSpc>
              <a:defRPr sz="3307"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5797" y="884605"/>
            <a:ext cx="5042833" cy="3969385"/>
          </a:xfrm>
        </p:spPr>
        <p:txBody>
          <a:bodyPr lIns="274320" tIns="182880" anchor="t">
            <a:normAutofit/>
          </a:bodyPr>
          <a:lstStyle>
            <a:lvl1pPr marL="0" indent="0">
              <a:buNone/>
              <a:defRPr sz="2315"/>
            </a:lvl1pPr>
            <a:lvl2pPr marL="378013" indent="0">
              <a:buNone/>
              <a:defRPr sz="2315"/>
            </a:lvl2pPr>
            <a:lvl3pPr marL="756026" indent="0">
              <a:buNone/>
              <a:defRPr sz="1984"/>
            </a:lvl3pPr>
            <a:lvl4pPr marL="1134039" indent="0">
              <a:buNone/>
              <a:defRPr sz="1654"/>
            </a:lvl4pPr>
            <a:lvl5pPr marL="1512052" indent="0">
              <a:buNone/>
              <a:defRPr sz="1654"/>
            </a:lvl5pPr>
            <a:lvl6pPr marL="1890065" indent="0">
              <a:buNone/>
              <a:defRPr sz="1654"/>
            </a:lvl6pPr>
            <a:lvl7pPr marL="2268078" indent="0">
              <a:buNone/>
              <a:defRPr sz="1654"/>
            </a:lvl7pPr>
            <a:lvl8pPr marL="2646091" indent="0">
              <a:buNone/>
              <a:defRPr sz="1654"/>
            </a:lvl8pPr>
            <a:lvl9pPr marL="3024104" indent="0">
              <a:buNone/>
              <a:defRPr sz="1654"/>
            </a:lvl9pPr>
          </a:lstStyle>
          <a:p>
            <a:r>
              <a:rPr lang="en-US"/>
              <a:t>Click icon to add picture</a:t>
            </a:r>
            <a:endParaRPr lang="en-US" dirty="0"/>
          </a:p>
        </p:txBody>
      </p:sp>
      <p:sp>
        <p:nvSpPr>
          <p:cNvPr id="4" name="Text Placeholder 3"/>
          <p:cNvSpPr>
            <a:spLocks noGrp="1"/>
          </p:cNvSpPr>
          <p:nvPr>
            <p:ph type="body" sz="half" idx="2"/>
          </p:nvPr>
        </p:nvSpPr>
        <p:spPr>
          <a:xfrm>
            <a:off x="945058" y="2343827"/>
            <a:ext cx="3251002" cy="2381631"/>
          </a:xfrm>
        </p:spPr>
        <p:txBody>
          <a:bodyPr>
            <a:normAutofit/>
          </a:bodyPr>
          <a:lstStyle>
            <a:lvl1pPr marL="0" indent="0">
              <a:lnSpc>
                <a:spcPct val="100000"/>
              </a:lnSpc>
              <a:spcBef>
                <a:spcPts val="827"/>
              </a:spcBef>
              <a:buNone/>
              <a:defRPr sz="1406"/>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59022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930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13947" y="630061"/>
            <a:ext cx="1921619" cy="447343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45059" y="630061"/>
            <a:ext cx="6142881" cy="44734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27683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3640" y="226080"/>
            <a:ext cx="9072000" cy="439020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Tree>
    <p:extLst>
      <p:ext uri="{BB962C8B-B14F-4D97-AF65-F5344CB8AC3E}">
        <p14:creationId xmlns:p14="http://schemas.microsoft.com/office/powerpoint/2010/main" val="165443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191112" y="201620"/>
            <a:ext cx="9694201" cy="5273611"/>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5059" y="504049"/>
            <a:ext cx="8165306" cy="112150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45059" y="1701165"/>
            <a:ext cx="8163116" cy="33393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45055" y="5146184"/>
            <a:ext cx="1925732" cy="301904"/>
          </a:xfrm>
          <a:prstGeom prst="rect">
            <a:avLst/>
          </a:prstGeom>
        </p:spPr>
        <p:txBody>
          <a:bodyPr vert="horz" lIns="91440" tIns="45720" rIns="91440" bIns="45720" rtlCol="0" anchor="ctr"/>
          <a:lstStyle>
            <a:lvl1pPr algn="l">
              <a:defRPr sz="992">
                <a:solidFill>
                  <a:schemeClr val="accent1"/>
                </a:solidFill>
              </a:defRPr>
            </a:lvl1pPr>
          </a:lstStyle>
          <a:p>
            <a:fld id="{B61BEF0D-F0BB-DE4B-95CE-6DB70DBA9567}" type="datetimeFigureOut">
              <a:rPr lang="en-US" smtClean="0"/>
              <a:pPr/>
              <a:t>1/26/2026</a:t>
            </a:fld>
            <a:endParaRPr lang="en-US" dirty="0"/>
          </a:p>
        </p:txBody>
      </p:sp>
      <p:sp>
        <p:nvSpPr>
          <p:cNvPr id="5" name="Footer Placeholder 4"/>
          <p:cNvSpPr>
            <a:spLocks noGrp="1"/>
          </p:cNvSpPr>
          <p:nvPr>
            <p:ph type="ftr" sz="quarter" idx="3"/>
          </p:nvPr>
        </p:nvSpPr>
        <p:spPr>
          <a:xfrm>
            <a:off x="3265246" y="5146184"/>
            <a:ext cx="3900764" cy="301904"/>
          </a:xfrm>
          <a:prstGeom prst="rect">
            <a:avLst/>
          </a:prstGeom>
        </p:spPr>
        <p:txBody>
          <a:bodyPr vert="horz" lIns="91440" tIns="45720" rIns="91440" bIns="45720" rtlCol="0" anchor="ctr"/>
          <a:lstStyle>
            <a:lvl1pPr algn="ctr">
              <a:defRPr sz="992">
                <a:solidFill>
                  <a:schemeClr val="accent1"/>
                </a:solidFill>
              </a:defRPr>
            </a:lvl1pPr>
          </a:lstStyle>
          <a:p>
            <a:endParaRPr lang="en-US" dirty="0"/>
          </a:p>
        </p:txBody>
      </p:sp>
      <p:sp>
        <p:nvSpPr>
          <p:cNvPr id="6" name="Slide Number Placeholder 5"/>
          <p:cNvSpPr>
            <a:spLocks noGrp="1"/>
          </p:cNvSpPr>
          <p:nvPr>
            <p:ph type="sldNum" sz="quarter" idx="4"/>
          </p:nvPr>
        </p:nvSpPr>
        <p:spPr>
          <a:xfrm>
            <a:off x="7713870" y="5146184"/>
            <a:ext cx="1410739" cy="301904"/>
          </a:xfrm>
          <a:prstGeom prst="rect">
            <a:avLst/>
          </a:prstGeom>
        </p:spPr>
        <p:txBody>
          <a:bodyPr vert="horz" lIns="91440" tIns="45720" rIns="91440" bIns="45720" rtlCol="0" anchor="ctr"/>
          <a:lstStyle>
            <a:lvl1pPr algn="r">
              <a:defRPr sz="992">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6289216"/>
      </p:ext>
    </p:extLst>
  </p:cSld>
  <p:clrMap bg1="lt1" tx1="dk1" bg2="lt2" tx2="dk2" accent1="accent1" accent2="accent2" accent3="accent3" accent4="accent4" accent5="accent5" accent6="accent6" hlink="hlink" folHlink="folHlink"/>
  <p:sldLayoutIdLst>
    <p:sldLayoutId id="2147484139" r:id="rId1"/>
    <p:sldLayoutId id="2147484140" r:id="rId2"/>
    <p:sldLayoutId id="2147484141" r:id="rId3"/>
    <p:sldLayoutId id="2147484142" r:id="rId4"/>
    <p:sldLayoutId id="2147484143" r:id="rId5"/>
    <p:sldLayoutId id="2147484144" r:id="rId6"/>
    <p:sldLayoutId id="2147484145" r:id="rId7"/>
    <p:sldLayoutId id="2147484146" r:id="rId8"/>
    <p:sldLayoutId id="2147484147" r:id="rId9"/>
    <p:sldLayoutId id="2147484148" r:id="rId10"/>
    <p:sldLayoutId id="2147484149" r:id="rId11"/>
    <p:sldLayoutId id="2147484150" r:id="rId12"/>
  </p:sldLayoutIdLst>
  <p:txStyles>
    <p:titleStyle>
      <a:lvl1pPr algn="l" defTabSz="756026" rtl="0" eaLnBrk="1" latinLnBrk="0" hangingPunct="1">
        <a:lnSpc>
          <a:spcPct val="90000"/>
        </a:lnSpc>
        <a:spcBef>
          <a:spcPct val="0"/>
        </a:spcBef>
        <a:buNone/>
        <a:defRPr sz="3638" kern="1200">
          <a:solidFill>
            <a:schemeClr val="accent1"/>
          </a:solidFill>
          <a:latin typeface="+mj-lt"/>
          <a:ea typeface="+mj-ea"/>
          <a:cs typeface="+mj-cs"/>
        </a:defRPr>
      </a:lvl1pPr>
    </p:titleStyle>
    <p:bodyStyle>
      <a:lvl1pPr marL="189006" indent="-151205" algn="l" defTabSz="756026" rtl="0" eaLnBrk="1" latinLnBrk="0" hangingPunct="1">
        <a:lnSpc>
          <a:spcPct val="90000"/>
        </a:lnSpc>
        <a:spcBef>
          <a:spcPts val="1158"/>
        </a:spcBef>
        <a:buClr>
          <a:schemeClr val="accent1"/>
        </a:buClr>
        <a:buSzPct val="80000"/>
        <a:buFont typeface="Corbel" pitchFamily="34" charset="0"/>
        <a:buChar char="•"/>
        <a:defRPr sz="1819" kern="1200">
          <a:solidFill>
            <a:schemeClr val="accent1"/>
          </a:solidFill>
          <a:latin typeface="+mn-lt"/>
          <a:ea typeface="+mn-ea"/>
          <a:cs typeface="+mn-cs"/>
        </a:defRPr>
      </a:lvl1pPr>
      <a:lvl2pPr marL="378013" indent="-151205" algn="l" defTabSz="756026" rtl="0" eaLnBrk="1" latinLnBrk="0" hangingPunct="1">
        <a:lnSpc>
          <a:spcPct val="90000"/>
        </a:lnSpc>
        <a:spcBef>
          <a:spcPts val="165"/>
        </a:spcBef>
        <a:spcAft>
          <a:spcPts val="331"/>
        </a:spcAft>
        <a:buClr>
          <a:schemeClr val="accent1"/>
        </a:buClr>
        <a:buSzPct val="80000"/>
        <a:buFont typeface="Corbel" pitchFamily="34" charset="0"/>
        <a:buChar char="•"/>
        <a:defRPr sz="1654" kern="1200">
          <a:solidFill>
            <a:schemeClr val="accent1"/>
          </a:solidFill>
          <a:latin typeface="+mn-lt"/>
          <a:ea typeface="+mn-ea"/>
          <a:cs typeface="+mn-cs"/>
        </a:defRPr>
      </a:lvl2pPr>
      <a:lvl3pPr marL="604821" indent="-151205" algn="l" defTabSz="756026" rtl="0" eaLnBrk="1" latinLnBrk="0" hangingPunct="1">
        <a:lnSpc>
          <a:spcPct val="90000"/>
        </a:lnSpc>
        <a:spcBef>
          <a:spcPts val="165"/>
        </a:spcBef>
        <a:spcAft>
          <a:spcPts val="331"/>
        </a:spcAft>
        <a:buClr>
          <a:schemeClr val="accent1"/>
        </a:buClr>
        <a:buSzPct val="80000"/>
        <a:buFont typeface="Corbel" pitchFamily="34" charset="0"/>
        <a:buChar char="•"/>
        <a:defRPr sz="1488" kern="1200">
          <a:solidFill>
            <a:schemeClr val="accent1"/>
          </a:solidFill>
          <a:latin typeface="+mn-lt"/>
          <a:ea typeface="+mn-ea"/>
          <a:cs typeface="+mn-cs"/>
        </a:defRPr>
      </a:lvl3pPr>
      <a:lvl4pPr marL="831629" indent="-151205" algn="l" defTabSz="756026" rtl="0" eaLnBrk="1" latinLnBrk="0" hangingPunct="1">
        <a:lnSpc>
          <a:spcPct val="90000"/>
        </a:lnSpc>
        <a:spcBef>
          <a:spcPts val="165"/>
        </a:spcBef>
        <a:spcAft>
          <a:spcPts val="331"/>
        </a:spcAft>
        <a:buClr>
          <a:schemeClr val="accent1"/>
        </a:buClr>
        <a:buSzPct val="80000"/>
        <a:buFont typeface="Corbel" pitchFamily="34" charset="0"/>
        <a:buChar char="•"/>
        <a:defRPr sz="1323" kern="1200">
          <a:solidFill>
            <a:schemeClr val="accent1"/>
          </a:solidFill>
          <a:latin typeface="+mn-lt"/>
          <a:ea typeface="+mn-ea"/>
          <a:cs typeface="+mn-cs"/>
        </a:defRPr>
      </a:lvl4pPr>
      <a:lvl5pPr marL="1058436" indent="-151205" algn="l" defTabSz="756026" rtl="0" eaLnBrk="1" latinLnBrk="0" hangingPunct="1">
        <a:lnSpc>
          <a:spcPct val="90000"/>
        </a:lnSpc>
        <a:spcBef>
          <a:spcPts val="165"/>
        </a:spcBef>
        <a:spcAft>
          <a:spcPts val="331"/>
        </a:spcAft>
        <a:buClr>
          <a:schemeClr val="accent1"/>
        </a:buClr>
        <a:buSzPct val="80000"/>
        <a:buFont typeface="Corbel" pitchFamily="34" charset="0"/>
        <a:buChar char="•"/>
        <a:defRPr sz="1323" kern="1200">
          <a:solidFill>
            <a:schemeClr val="accent1"/>
          </a:solidFill>
          <a:latin typeface="+mn-lt"/>
          <a:ea typeface="+mn-ea"/>
          <a:cs typeface="+mn-cs"/>
        </a:defRPr>
      </a:lvl5pPr>
      <a:lvl6pPr marL="1322880" indent="-189006" algn="l" defTabSz="756026" rtl="0" eaLnBrk="1" latinLnBrk="0" hangingPunct="1">
        <a:lnSpc>
          <a:spcPct val="90000"/>
        </a:lnSpc>
        <a:spcBef>
          <a:spcPts val="165"/>
        </a:spcBef>
        <a:spcAft>
          <a:spcPts val="331"/>
        </a:spcAft>
        <a:buClr>
          <a:schemeClr val="accent1"/>
        </a:buClr>
        <a:buSzPct val="80000"/>
        <a:buFont typeface="Corbel" pitchFamily="34" charset="0"/>
        <a:buChar char="•"/>
        <a:defRPr sz="1323" kern="1200">
          <a:solidFill>
            <a:schemeClr val="accent1"/>
          </a:solidFill>
          <a:latin typeface="+mn-lt"/>
          <a:ea typeface="+mn-ea"/>
          <a:cs typeface="+mn-cs"/>
        </a:defRPr>
      </a:lvl6pPr>
      <a:lvl7pPr marL="1570920" indent="-189006" algn="l" defTabSz="756026" rtl="0" eaLnBrk="1" latinLnBrk="0" hangingPunct="1">
        <a:lnSpc>
          <a:spcPct val="90000"/>
        </a:lnSpc>
        <a:spcBef>
          <a:spcPts val="165"/>
        </a:spcBef>
        <a:spcAft>
          <a:spcPts val="331"/>
        </a:spcAft>
        <a:buClr>
          <a:schemeClr val="accent1"/>
        </a:buClr>
        <a:buSzPct val="80000"/>
        <a:buFont typeface="Corbel" pitchFamily="34" charset="0"/>
        <a:buChar char="•"/>
        <a:defRPr sz="1323" kern="1200">
          <a:solidFill>
            <a:schemeClr val="accent1"/>
          </a:solidFill>
          <a:latin typeface="+mn-lt"/>
          <a:ea typeface="+mn-ea"/>
          <a:cs typeface="+mn-cs"/>
        </a:defRPr>
      </a:lvl7pPr>
      <a:lvl8pPr marL="1818960" indent="-189006" algn="l" defTabSz="756026" rtl="0" eaLnBrk="1" latinLnBrk="0" hangingPunct="1">
        <a:lnSpc>
          <a:spcPct val="90000"/>
        </a:lnSpc>
        <a:spcBef>
          <a:spcPts val="165"/>
        </a:spcBef>
        <a:spcAft>
          <a:spcPts val="331"/>
        </a:spcAft>
        <a:buClr>
          <a:schemeClr val="accent1"/>
        </a:buClr>
        <a:buSzPct val="80000"/>
        <a:buFont typeface="Corbel" pitchFamily="34" charset="0"/>
        <a:buChar char="•"/>
        <a:defRPr sz="1323" kern="1200">
          <a:solidFill>
            <a:schemeClr val="accent1"/>
          </a:solidFill>
          <a:latin typeface="+mn-lt"/>
          <a:ea typeface="+mn-ea"/>
          <a:cs typeface="+mn-cs"/>
        </a:defRPr>
      </a:lvl8pPr>
      <a:lvl9pPr marL="2067000" indent="-189006" algn="l" defTabSz="756026" rtl="0" eaLnBrk="1" latinLnBrk="0" hangingPunct="1">
        <a:lnSpc>
          <a:spcPct val="90000"/>
        </a:lnSpc>
        <a:spcBef>
          <a:spcPts val="165"/>
        </a:spcBef>
        <a:spcAft>
          <a:spcPts val="331"/>
        </a:spcAft>
        <a:buClr>
          <a:schemeClr val="accent1"/>
        </a:buClr>
        <a:buSzPct val="80000"/>
        <a:buFont typeface="Corbel" pitchFamily="34" charset="0"/>
        <a:buChar char="•"/>
        <a:defRPr sz="1323" kern="1200">
          <a:solidFill>
            <a:schemeClr val="accent1"/>
          </a:solidFill>
          <a:latin typeface="+mn-lt"/>
          <a:ea typeface="+mn-ea"/>
          <a:cs typeface="+mn-cs"/>
        </a:defRPr>
      </a:lvl9pPr>
    </p:bodyStyle>
    <p:otherStyle>
      <a:defPPr>
        <a:defRPr lang="en-US"/>
      </a:defPPr>
      <a:lvl1pPr marL="0" algn="l" defTabSz="756026" rtl="0" eaLnBrk="1" latinLnBrk="0" hangingPunct="1">
        <a:defRPr sz="1488" kern="1200">
          <a:solidFill>
            <a:schemeClr val="tx1"/>
          </a:solidFill>
          <a:latin typeface="+mn-lt"/>
          <a:ea typeface="+mn-ea"/>
          <a:cs typeface="+mn-cs"/>
        </a:defRPr>
      </a:lvl1pPr>
      <a:lvl2pPr marL="378013" algn="l" defTabSz="756026" rtl="0" eaLnBrk="1" latinLnBrk="0" hangingPunct="1">
        <a:defRPr sz="1488" kern="1200">
          <a:solidFill>
            <a:schemeClr val="tx1"/>
          </a:solidFill>
          <a:latin typeface="+mn-lt"/>
          <a:ea typeface="+mn-ea"/>
          <a:cs typeface="+mn-cs"/>
        </a:defRPr>
      </a:lvl2pPr>
      <a:lvl3pPr marL="756026" algn="l" defTabSz="756026" rtl="0" eaLnBrk="1" latinLnBrk="0" hangingPunct="1">
        <a:defRPr sz="1488" kern="1200">
          <a:solidFill>
            <a:schemeClr val="tx1"/>
          </a:solidFill>
          <a:latin typeface="+mn-lt"/>
          <a:ea typeface="+mn-ea"/>
          <a:cs typeface="+mn-cs"/>
        </a:defRPr>
      </a:lvl3pPr>
      <a:lvl4pPr marL="1134039" algn="l" defTabSz="756026" rtl="0" eaLnBrk="1" latinLnBrk="0" hangingPunct="1">
        <a:defRPr sz="1488" kern="1200">
          <a:solidFill>
            <a:schemeClr val="tx1"/>
          </a:solidFill>
          <a:latin typeface="+mn-lt"/>
          <a:ea typeface="+mn-ea"/>
          <a:cs typeface="+mn-cs"/>
        </a:defRPr>
      </a:lvl4pPr>
      <a:lvl5pPr marL="1512052" algn="l" defTabSz="756026" rtl="0" eaLnBrk="1" latinLnBrk="0" hangingPunct="1">
        <a:defRPr sz="1488" kern="1200">
          <a:solidFill>
            <a:schemeClr val="tx1"/>
          </a:solidFill>
          <a:latin typeface="+mn-lt"/>
          <a:ea typeface="+mn-ea"/>
          <a:cs typeface="+mn-cs"/>
        </a:defRPr>
      </a:lvl5pPr>
      <a:lvl6pPr marL="1890065" algn="l" defTabSz="756026" rtl="0" eaLnBrk="1" latinLnBrk="0" hangingPunct="1">
        <a:defRPr sz="1488" kern="1200">
          <a:solidFill>
            <a:schemeClr val="tx1"/>
          </a:solidFill>
          <a:latin typeface="+mn-lt"/>
          <a:ea typeface="+mn-ea"/>
          <a:cs typeface="+mn-cs"/>
        </a:defRPr>
      </a:lvl6pPr>
      <a:lvl7pPr marL="2268078" algn="l" defTabSz="756026" rtl="0" eaLnBrk="1" latinLnBrk="0" hangingPunct="1">
        <a:defRPr sz="1488" kern="1200">
          <a:solidFill>
            <a:schemeClr val="tx1"/>
          </a:solidFill>
          <a:latin typeface="+mn-lt"/>
          <a:ea typeface="+mn-ea"/>
          <a:cs typeface="+mn-cs"/>
        </a:defRPr>
      </a:lvl7pPr>
      <a:lvl8pPr marL="2646091" algn="l" defTabSz="756026" rtl="0" eaLnBrk="1" latinLnBrk="0" hangingPunct="1">
        <a:defRPr sz="1488" kern="1200">
          <a:solidFill>
            <a:schemeClr val="tx1"/>
          </a:solidFill>
          <a:latin typeface="+mn-lt"/>
          <a:ea typeface="+mn-ea"/>
          <a:cs typeface="+mn-cs"/>
        </a:defRPr>
      </a:lvl8pPr>
      <a:lvl9pPr marL="3024104" algn="l" defTabSz="756026"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1915" y="201833"/>
            <a:ext cx="1141896" cy="1321364"/>
          </a:xfrm>
          <a:custGeom>
            <a:avLst/>
            <a:gdLst/>
            <a:ahLst/>
            <a:cxnLst/>
            <a:rect l="l" t="t" r="r" b="b"/>
            <a:pathLst>
              <a:path w="2071597" h="2397183">
                <a:moveTo>
                  <a:pt x="0" y="0"/>
                </a:moveTo>
                <a:lnTo>
                  <a:pt x="2071598" y="0"/>
                </a:lnTo>
                <a:lnTo>
                  <a:pt x="2071598" y="2397183"/>
                </a:lnTo>
                <a:lnTo>
                  <a:pt x="0" y="2397183"/>
                </a:lnTo>
                <a:lnTo>
                  <a:pt x="0" y="0"/>
                </a:lnTo>
                <a:close/>
              </a:path>
            </a:pathLst>
          </a:custGeom>
          <a:blipFill>
            <a:blip r:embed="rId2"/>
            <a:stretch>
              <a:fillRect l="-16806" t="-7152" r="-15462" b="-7152"/>
            </a:stretch>
          </a:blipFill>
          <a:ln cap="sq">
            <a:noFill/>
            <a:prstDash val="solid"/>
            <a:miter/>
          </a:ln>
        </p:spPr>
      </p:sp>
      <p:sp>
        <p:nvSpPr>
          <p:cNvPr id="3" name="TextBox 3"/>
          <p:cNvSpPr txBox="1"/>
          <p:nvPr/>
        </p:nvSpPr>
        <p:spPr>
          <a:xfrm>
            <a:off x="1125415" y="267639"/>
            <a:ext cx="8581293" cy="835934"/>
          </a:xfrm>
          <a:prstGeom prst="rect">
            <a:avLst/>
          </a:prstGeom>
        </p:spPr>
        <p:txBody>
          <a:bodyPr wrap="square" lIns="0" tIns="0" rIns="0" bIns="0" rtlCol="0" anchor="t">
            <a:spAutoFit/>
          </a:bodyPr>
          <a:lstStyle/>
          <a:p>
            <a:pPr algn="ctr">
              <a:lnSpc>
                <a:spcPts val="3395"/>
              </a:lnSpc>
              <a:spcBef>
                <a:spcPct val="0"/>
              </a:spcBef>
            </a:pPr>
            <a:r>
              <a:rPr lang="en-US" sz="2425" dirty="0">
                <a:solidFill>
                  <a:srgbClr val="000000"/>
                </a:solidFill>
                <a:latin typeface="Times New Roman" panose="02020603050405020304" pitchFamily="18" charset="0"/>
                <a:ea typeface="Times New Roman"/>
                <a:cs typeface="Times New Roman" panose="02020603050405020304" pitchFamily="18" charset="0"/>
                <a:sym typeface="Times New Roman"/>
              </a:rPr>
              <a:t>CMR Institute Of Technology</a:t>
            </a:r>
          </a:p>
          <a:p>
            <a:pPr algn="ctr">
              <a:lnSpc>
                <a:spcPts val="3395"/>
              </a:lnSpc>
              <a:spcBef>
                <a:spcPct val="0"/>
              </a:spcBef>
            </a:pPr>
            <a:r>
              <a:rPr lang="en-US" sz="2425" dirty="0">
                <a:solidFill>
                  <a:srgbClr val="000000"/>
                </a:solidFill>
                <a:latin typeface="Times New Roman" panose="02020603050405020304" pitchFamily="18" charset="0"/>
                <a:ea typeface="Times New Roman"/>
                <a:cs typeface="Times New Roman" panose="02020603050405020304" pitchFamily="18" charset="0"/>
                <a:sym typeface="Times New Roman"/>
              </a:rPr>
              <a:t>Department of Computer Science and Engineering</a:t>
            </a:r>
          </a:p>
        </p:txBody>
      </p:sp>
      <p:sp>
        <p:nvSpPr>
          <p:cNvPr id="4" name="TextBox 4"/>
          <p:cNvSpPr txBox="1"/>
          <p:nvPr/>
        </p:nvSpPr>
        <p:spPr>
          <a:xfrm>
            <a:off x="1871003" y="1533626"/>
            <a:ext cx="6295292" cy="371897"/>
          </a:xfrm>
          <a:prstGeom prst="rect">
            <a:avLst/>
          </a:prstGeom>
        </p:spPr>
        <p:txBody>
          <a:bodyPr wrap="square" lIns="0" tIns="0" rIns="0" bIns="0" rtlCol="0" anchor="t">
            <a:spAutoFit/>
          </a:bodyPr>
          <a:lstStyle/>
          <a:p>
            <a:pPr algn="ctr">
              <a:lnSpc>
                <a:spcPts val="2932"/>
              </a:lnSpc>
              <a:spcBef>
                <a:spcPct val="0"/>
              </a:spcBef>
            </a:pPr>
            <a:r>
              <a:rPr lang="en-US" sz="2800" b="1" dirty="0">
                <a:solidFill>
                  <a:srgbClr val="000000"/>
                </a:solidFill>
                <a:latin typeface="Times New Roman" panose="02020603050405020304" pitchFamily="18" charset="0"/>
                <a:ea typeface="Times New Roman MT Medium"/>
                <a:cs typeface="Times New Roman" panose="02020603050405020304" pitchFamily="18" charset="0"/>
                <a:sym typeface="Times New Roman MT Medium"/>
              </a:rPr>
              <a:t>Major Project Review - 3</a:t>
            </a:r>
          </a:p>
        </p:txBody>
      </p:sp>
      <p:sp>
        <p:nvSpPr>
          <p:cNvPr id="5" name="TextBox 5"/>
          <p:cNvSpPr txBox="1"/>
          <p:nvPr/>
        </p:nvSpPr>
        <p:spPr>
          <a:xfrm>
            <a:off x="436097" y="2363371"/>
            <a:ext cx="9488659" cy="688778"/>
          </a:xfrm>
          <a:prstGeom prst="rect">
            <a:avLst/>
          </a:prstGeom>
        </p:spPr>
        <p:txBody>
          <a:bodyPr wrap="square" lIns="0" tIns="0" rIns="0" bIns="0" rtlCol="0" anchor="t">
            <a:spAutoFit/>
          </a:bodyPr>
          <a:lstStyle/>
          <a:p>
            <a:pPr algn="ctr">
              <a:lnSpc>
                <a:spcPct val="107000"/>
              </a:lnSpc>
              <a:spcAft>
                <a:spcPts val="800"/>
              </a:spcAft>
            </a:pPr>
            <a:r>
              <a:rPr lang="en-IN" sz="4400" b="1" dirty="0">
                <a:latin typeface="Times New Roman"/>
                <a:ea typeface="Calibri"/>
                <a:cs typeface="Times New Roman"/>
              </a:rPr>
              <a:t>Travel Plan Itinerary Generator</a:t>
            </a:r>
            <a:endParaRPr lang="en-US" sz="4400" dirty="0">
              <a:latin typeface="Calibri"/>
              <a:ea typeface="Calibri"/>
              <a:cs typeface="Times New Roman"/>
            </a:endParaRPr>
          </a:p>
        </p:txBody>
      </p:sp>
      <p:sp>
        <p:nvSpPr>
          <p:cNvPr id="6" name="TextBox 6"/>
          <p:cNvSpPr txBox="1"/>
          <p:nvPr/>
        </p:nvSpPr>
        <p:spPr>
          <a:xfrm>
            <a:off x="253218" y="4100732"/>
            <a:ext cx="2812972" cy="1384995"/>
          </a:xfrm>
          <a:prstGeom prst="rect">
            <a:avLst/>
          </a:prstGeom>
        </p:spPr>
        <p:txBody>
          <a:bodyPr wrap="square" lIns="0" tIns="0" rIns="0" bIns="0" rtlCol="0" anchor="t">
            <a:spAutoFit/>
          </a:bodyPr>
          <a:lstStyle/>
          <a:p>
            <a:r>
              <a:rPr lang="en-US" b="1" dirty="0">
                <a:latin typeface="Times New Roman" panose="02020603050405020304" pitchFamily="18" charset="0"/>
                <a:cs typeface="Times New Roman" panose="02020603050405020304" pitchFamily="18" charset="0"/>
              </a:rPr>
              <a:t>Guide:</a:t>
            </a:r>
          </a:p>
          <a:p>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Mrs. S. Jenifer</a:t>
            </a:r>
          </a:p>
          <a:p>
            <a:r>
              <a:rPr lang="en-US" dirty="0">
                <a:latin typeface="Times New Roman" panose="02020603050405020304" pitchFamily="18" charset="0"/>
                <a:cs typeface="Times New Roman" panose="02020603050405020304" pitchFamily="18" charset="0"/>
              </a:rPr>
              <a:t>Assistant Professor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Dept. of CSE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CMRIT</a:t>
            </a:r>
            <a:endParaRPr lang="en-IN" dirty="0">
              <a:latin typeface="Times New Roman" panose="02020603050405020304" pitchFamily="18" charset="0"/>
              <a:cs typeface="Times New Roman" panose="02020603050405020304" pitchFamily="18" charset="0"/>
            </a:endParaRPr>
          </a:p>
        </p:txBody>
      </p:sp>
      <p:sp>
        <p:nvSpPr>
          <p:cNvPr id="7" name="TextBox 7"/>
          <p:cNvSpPr txBox="1"/>
          <p:nvPr/>
        </p:nvSpPr>
        <p:spPr>
          <a:xfrm>
            <a:off x="5451231" y="4100732"/>
            <a:ext cx="4473526" cy="1384995"/>
          </a:xfrm>
          <a:prstGeom prst="rect">
            <a:avLst/>
          </a:prstGeom>
        </p:spPr>
        <p:txBody>
          <a:bodyPr wrap="square" lIns="0" tIns="0" rIns="0" bIns="0" rtlCol="0" anchor="t">
            <a:spAutoFit/>
          </a:bodyPr>
          <a:lstStyle/>
          <a:p>
            <a:pPr algn="just"/>
            <a:r>
              <a:rPr lang="pt-BR" b="1" dirty="0">
                <a:latin typeface="Times New Roman" panose="02020603050405020304" pitchFamily="18" charset="0"/>
                <a:cs typeface="Times New Roman" panose="02020603050405020304" pitchFamily="18" charset="0"/>
              </a:rPr>
              <a:t>Presented By:		</a:t>
            </a:r>
          </a:p>
          <a:p>
            <a:pPr algn="just"/>
            <a:r>
              <a:rPr lang="pt-BR" dirty="0">
                <a:latin typeface="Times New Roman" panose="02020603050405020304" pitchFamily="18" charset="0"/>
                <a:cs typeface="Times New Roman" panose="02020603050405020304" pitchFamily="18" charset="0"/>
              </a:rPr>
              <a:t>22R01A0529 	- 	Hruday Kumar Kotha</a:t>
            </a:r>
          </a:p>
          <a:p>
            <a:pPr algn="just"/>
            <a:r>
              <a:rPr lang="pt-BR" dirty="0">
                <a:latin typeface="Times New Roman" panose="02020603050405020304" pitchFamily="18" charset="0"/>
                <a:cs typeface="Times New Roman" panose="02020603050405020304" pitchFamily="18" charset="0"/>
              </a:rPr>
              <a:t>22R01A0532 	- 	Mithun Reddy Maddula</a:t>
            </a:r>
          </a:p>
          <a:p>
            <a:pPr algn="just"/>
            <a:r>
              <a:rPr lang="pt-BR" dirty="0">
                <a:latin typeface="Times New Roman" panose="02020603050405020304" pitchFamily="18" charset="0"/>
                <a:cs typeface="Times New Roman" panose="02020603050405020304" pitchFamily="18" charset="0"/>
              </a:rPr>
              <a:t>22R01A0536   - 	Uday Manda</a:t>
            </a:r>
          </a:p>
          <a:p>
            <a:pPr algn="just"/>
            <a:r>
              <a:rPr lang="pt-BR" dirty="0">
                <a:latin typeface="Times New Roman" panose="02020603050405020304" pitchFamily="18" charset="0"/>
                <a:cs typeface="Times New Roman" panose="02020603050405020304" pitchFamily="18" charset="0"/>
              </a:rPr>
              <a:t>22R01A0569 	- 	Vivekananda Bhoomipaka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4"/>
          <p:cNvSpPr/>
          <p:nvPr/>
        </p:nvSpPr>
        <p:spPr>
          <a:xfrm>
            <a:off x="0" y="163032"/>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rgbClr val="000000"/>
                </a:solidFill>
                <a:latin typeface="Times New Roman" panose="02020603050405020304" pitchFamily="18" charset="0"/>
                <a:ea typeface="DejaVu Sans"/>
                <a:cs typeface="Times New Roman" panose="02020603050405020304" pitchFamily="18" charset="0"/>
              </a:rPr>
              <a:t>Abstract</a:t>
            </a:r>
            <a:endParaRPr lang="en-IN" sz="28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84D1E9ED-49DA-4226-F38F-5F6CDD7DEDE1}"/>
              </a:ext>
            </a:extLst>
          </p:cNvPr>
          <p:cNvSpPr>
            <a:spLocks noChangeArrowheads="1"/>
          </p:cNvSpPr>
          <p:nvPr/>
        </p:nvSpPr>
        <p:spPr bwMode="auto">
          <a:xfrm>
            <a:off x="693599" y="829921"/>
            <a:ext cx="8693426"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dirty="0">
                <a:latin typeface="Times New Roman" pitchFamily="18" charset="0"/>
                <a:cs typeface="Times New Roman" pitchFamily="18" charset="0"/>
              </a:rPr>
              <a:t>The </a:t>
            </a:r>
            <a:r>
              <a:rPr lang="en-US" i="1" dirty="0">
                <a:latin typeface="Times New Roman" pitchFamily="18" charset="0"/>
                <a:cs typeface="Times New Roman" pitchFamily="18" charset="0"/>
              </a:rPr>
              <a:t>Travel Plan Itinerary Generator</a:t>
            </a:r>
            <a:r>
              <a:rPr lang="en-US" dirty="0">
                <a:latin typeface="Times New Roman" pitchFamily="18" charset="0"/>
                <a:cs typeface="Times New Roman" pitchFamily="18" charset="0"/>
              </a:rPr>
              <a:t> is an intelligent application designed to simplify and personalize the process of travel planning. By leveraging user preferences, destination data, and real-time information such as weather and local events, the system automatically generates optimized daily itineraries tailored to individual interests and constraints. The platform integrates machine learning algorithms and heuristic optimization techniques to balance factors like travel time, activity duration, and user priorities, ensuring a seamless and enjoyable travel experience. This approach reduces the time and effort typically required for itinerary creation while enhancing trip satisfaction through data-driven recommendations. The Travel Plan Itinerary Generator aims to empower travelers with smart, adaptive planning tools that cater to diverse needs and evolving travel trends.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484094"/>
            <a:ext cx="2232212" cy="523220"/>
          </a:xfrm>
          <a:prstGeom prst="rect">
            <a:avLst/>
          </a:prstGeom>
          <a:noFill/>
        </p:spPr>
        <p:txBody>
          <a:bodyPr wrap="square" rtlCol="0">
            <a:spAutoFit/>
          </a:bodyPr>
          <a:lstStyle/>
          <a:p>
            <a:r>
              <a:rPr lang="en-IN" sz="2800" b="1" dirty="0">
                <a:latin typeface="Times New Roman" pitchFamily="18" charset="0"/>
                <a:cs typeface="Times New Roman" pitchFamily="18" charset="0"/>
              </a:rPr>
              <a:t>Introduction</a:t>
            </a:r>
            <a:endParaRPr lang="en-US" sz="2800" b="1" dirty="0">
              <a:latin typeface="Times New Roman" pitchFamily="18" charset="0"/>
              <a:cs typeface="Times New Roman" pitchFamily="18" charset="0"/>
            </a:endParaRPr>
          </a:p>
        </p:txBody>
      </p:sp>
      <p:sp>
        <p:nvSpPr>
          <p:cNvPr id="3" name="TextBox 2"/>
          <p:cNvSpPr txBox="1"/>
          <p:nvPr/>
        </p:nvSpPr>
        <p:spPr>
          <a:xfrm>
            <a:off x="981635" y="968195"/>
            <a:ext cx="8269941" cy="4349909"/>
          </a:xfrm>
          <a:prstGeom prst="rect">
            <a:avLst/>
          </a:prstGeom>
          <a:noFill/>
        </p:spPr>
        <p:txBody>
          <a:bodyPr wrap="square" rtlCol="0">
            <a:spAutoFit/>
          </a:bodyPr>
          <a:lstStyle/>
          <a:p>
            <a:pPr algn="just">
              <a:lnSpc>
                <a:spcPct val="150000"/>
              </a:lnSpc>
              <a:spcAft>
                <a:spcPts val="800"/>
              </a:spcAft>
            </a:pPr>
            <a:r>
              <a:rPr lang="en-US" dirty="0">
                <a:latin typeface="Times New Roman"/>
                <a:ea typeface="Calibri"/>
                <a:cs typeface="Times New Roman"/>
              </a:rPr>
              <a:t>Planning a trip can often be a complex and time-consuming task, involving multiple decisions such as selecting destinations, arranging accommodations, scheduling activities, and managing transportation. Travelers frequently face challenges in organizing these components efficiently while balancing personal preferences, budget constraints, and time limitations. With the rapid advancement of technology, especially in artificial intelligence and data analytics, there is a growing opportunity to automate and personalize the travel planning process.</a:t>
            </a:r>
            <a:endParaRPr lang="en-US" sz="1400" dirty="0">
              <a:latin typeface="Calibri"/>
              <a:ea typeface="Calibri"/>
              <a:cs typeface="Times New Roman"/>
            </a:endParaRPr>
          </a:p>
          <a:p>
            <a:pPr>
              <a:lnSpc>
                <a:spcPct val="150000"/>
              </a:lnSpc>
            </a:pPr>
            <a:r>
              <a:rPr lang="en-US" dirty="0">
                <a:latin typeface="Times New Roman"/>
                <a:ea typeface="Calibri"/>
              </a:rPr>
              <a:t>The </a:t>
            </a:r>
            <a:r>
              <a:rPr lang="en-US" i="1" dirty="0">
                <a:latin typeface="Times New Roman"/>
                <a:ea typeface="Calibri"/>
              </a:rPr>
              <a:t>Travel Plan Itinerary Generator</a:t>
            </a:r>
            <a:r>
              <a:rPr lang="en-US" dirty="0">
                <a:latin typeface="Times New Roman"/>
                <a:ea typeface="Calibri"/>
              </a:rPr>
              <a:t> is designed to address these challenges by providing users with an intelligent, automated tool that generates optimized travel itineraries tailored to their interests, travel dates, and budget. </a:t>
            </a:r>
            <a:endParaRPr lang="en-US" sz="1400" dirty="0">
              <a:latin typeface="Calibri"/>
              <a:ea typeface="Calibri"/>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E9B21A-5B79-61A6-578E-106D7DAE09B3}"/>
              </a:ext>
            </a:extLst>
          </p:cNvPr>
          <p:cNvSpPr txBox="1"/>
          <p:nvPr/>
        </p:nvSpPr>
        <p:spPr>
          <a:xfrm>
            <a:off x="3348202" y="268592"/>
            <a:ext cx="504102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Literature survey</a:t>
            </a:r>
          </a:p>
        </p:txBody>
      </p:sp>
      <p:sp>
        <p:nvSpPr>
          <p:cNvPr id="2" name="Rectangle 1">
            <a:extLst>
              <a:ext uri="{FF2B5EF4-FFF2-40B4-BE49-F238E27FC236}">
                <a16:creationId xmlns:a16="http://schemas.microsoft.com/office/drawing/2014/main" id="{D18DEC5B-FB3C-411B-D205-4B4F9E28AD19}"/>
              </a:ext>
            </a:extLst>
          </p:cNvPr>
          <p:cNvSpPr>
            <a:spLocks noChangeArrowheads="1"/>
          </p:cNvSpPr>
          <p:nvPr/>
        </p:nvSpPr>
        <p:spPr bwMode="auto">
          <a:xfrm>
            <a:off x="803513" y="1065630"/>
            <a:ext cx="8811134"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dirty="0">
                <a:latin typeface="Symbol"/>
                <a:ea typeface="Times New Roman"/>
              </a:rPr>
              <a:t>·</a:t>
            </a:r>
            <a:r>
              <a:rPr lang="en-US" dirty="0">
                <a:latin typeface="Times New Roman"/>
                <a:ea typeface="Times New Roman"/>
              </a:rPr>
              <a:t>  </a:t>
            </a:r>
            <a:r>
              <a:rPr lang="en-US" b="1" dirty="0">
                <a:latin typeface="Times New Roman"/>
                <a:ea typeface="Times New Roman"/>
              </a:rPr>
              <a:t>Automated Itinerary Planning Systems</a:t>
            </a:r>
            <a:br>
              <a:rPr lang="en-US" dirty="0">
                <a:latin typeface="Times New Roman"/>
                <a:ea typeface="Times New Roman"/>
              </a:rPr>
            </a:br>
            <a:r>
              <a:rPr lang="en-US" dirty="0">
                <a:latin typeface="Times New Roman"/>
                <a:ea typeface="Times New Roman"/>
              </a:rPr>
              <a:t>Early research in travel itinerary generation focused on rule-based and heuristic systems that automatically create travel plans based on user preferences, time constraints, and popular tourist destinations. These systems used static databases of attractions and fixed scheduling rules to produce feasible daily plans.</a:t>
            </a:r>
          </a:p>
          <a:p>
            <a:pPr>
              <a:lnSpc>
                <a:spcPct val="150000"/>
              </a:lnSpc>
            </a:pPr>
            <a:r>
              <a:rPr lang="en-US" dirty="0">
                <a:latin typeface="Symbol"/>
                <a:ea typeface="Times New Roman"/>
              </a:rPr>
              <a:t>·</a:t>
            </a:r>
            <a:r>
              <a:rPr lang="en-US" dirty="0">
                <a:latin typeface="Times New Roman"/>
                <a:ea typeface="Times New Roman"/>
              </a:rPr>
              <a:t>  </a:t>
            </a:r>
            <a:r>
              <a:rPr lang="en-US" b="1" dirty="0">
                <a:latin typeface="Times New Roman"/>
                <a:ea typeface="Times New Roman"/>
              </a:rPr>
              <a:t>Personalization through User Preferences and Constraints</a:t>
            </a:r>
            <a:br>
              <a:rPr lang="en-US" dirty="0">
                <a:latin typeface="Times New Roman"/>
                <a:ea typeface="Times New Roman"/>
              </a:rPr>
            </a:br>
            <a:r>
              <a:rPr lang="en-US" dirty="0">
                <a:latin typeface="Times New Roman"/>
                <a:ea typeface="Times New Roman"/>
              </a:rPr>
              <a:t>Recent approaches incorporate personalization by leveraging user profiles, travel interests, budget limits, and mobility constraints to tailor itineraries. Machine learning models and recommendation algorithms analyze past user behavior or similar travelers’ data to enhance relevance and satisfaction.</a:t>
            </a:r>
          </a:p>
        </p:txBody>
      </p:sp>
    </p:spTree>
    <p:extLst>
      <p:ext uri="{BB962C8B-B14F-4D97-AF65-F5344CB8AC3E}">
        <p14:creationId xmlns:p14="http://schemas.microsoft.com/office/powerpoint/2010/main" val="2342907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6"/>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rgbClr val="000000"/>
                </a:solidFill>
                <a:latin typeface="Times New Roman" panose="02020603050405020304" pitchFamily="18" charset="0"/>
                <a:ea typeface="DejaVu Sans"/>
                <a:cs typeface="Times New Roman" panose="02020603050405020304" pitchFamily="18" charset="0"/>
              </a:rPr>
              <a:t>Existing System</a:t>
            </a:r>
            <a:endParaRPr lang="en-IN" sz="28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4ACAFAE0-BF8D-F884-8035-FD9DB2A6B27A}"/>
              </a:ext>
            </a:extLst>
          </p:cNvPr>
          <p:cNvSpPr>
            <a:spLocks noChangeArrowheads="1"/>
          </p:cNvSpPr>
          <p:nvPr/>
        </p:nvSpPr>
        <p:spPr bwMode="auto">
          <a:xfrm>
            <a:off x="716788" y="962512"/>
            <a:ext cx="8817178" cy="3787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a:latin typeface="Times New Roman"/>
                <a:ea typeface="Calibri"/>
                <a:cs typeface="Times New Roman"/>
              </a:rPr>
              <a:t>Most existing travel itinerary generators rely heavily on static templates and rule-based approaches, often requiring users to manually input preferences and adjust plans. These systems typically aggregate data from a limited set of sources such as popular travel websites, predefined attractions, and fixed time slots, which restricts their flexibility and personalization capabilities. While some platforms provide basic customization options, they generally fail to adapt dynamically to user </a:t>
            </a:r>
            <a:r>
              <a:rPr lang="en-IN" dirty="0" err="1">
                <a:latin typeface="Times New Roman"/>
                <a:ea typeface="Calibri"/>
                <a:cs typeface="Times New Roman"/>
              </a:rPr>
              <a:t>behavior</a:t>
            </a:r>
            <a:r>
              <a:rPr lang="en-IN" dirty="0">
                <a:latin typeface="Times New Roman"/>
                <a:ea typeface="Calibri"/>
                <a:cs typeface="Times New Roman"/>
              </a:rPr>
              <a:t>, real-time conditions like weather or local events, and evolving travel trends. Furthermore, many current solutions lack integration with AI technologies, limiting their ability to recommend optimal routes, suggest hidden gems, or provide efficient time management, resulting in suboptimal travel experiences.</a:t>
            </a:r>
            <a:endParaRPr lang="en-US" sz="1400" dirty="0">
              <a:latin typeface="Calibri"/>
              <a:ea typeface="Calibri"/>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8"/>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ea typeface="DejaVu Sans"/>
              </a:rPr>
              <a:t>Drawbacks</a:t>
            </a:r>
            <a:endParaRPr lang="en-IN" sz="4400" b="0" strike="noStrike" spc="-1">
              <a:solidFill>
                <a:srgbClr val="000000"/>
              </a:solidFill>
              <a:latin typeface="Arial"/>
            </a:endParaRPr>
          </a:p>
        </p:txBody>
      </p:sp>
      <p:sp>
        <p:nvSpPr>
          <p:cNvPr id="2" name="Rectangle 1">
            <a:extLst>
              <a:ext uri="{FF2B5EF4-FFF2-40B4-BE49-F238E27FC236}">
                <a16:creationId xmlns:a16="http://schemas.microsoft.com/office/drawing/2014/main" id="{4D5A3512-BCC8-A273-6B07-740E9E78CA20}"/>
              </a:ext>
            </a:extLst>
          </p:cNvPr>
          <p:cNvSpPr>
            <a:spLocks noChangeArrowheads="1"/>
          </p:cNvSpPr>
          <p:nvPr/>
        </p:nvSpPr>
        <p:spPr bwMode="auto">
          <a:xfrm>
            <a:off x="952793" y="1179542"/>
            <a:ext cx="8163339"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dirty="0">
                <a:latin typeface="Symbol"/>
                <a:ea typeface="Times New Roman"/>
              </a:rPr>
              <a:t>·</a:t>
            </a:r>
            <a:r>
              <a:rPr lang="en-US" dirty="0">
                <a:latin typeface="Times New Roman"/>
                <a:ea typeface="Times New Roman"/>
              </a:rPr>
              <a:t>  </a:t>
            </a:r>
            <a:r>
              <a:rPr lang="en-US" b="1" dirty="0">
                <a:latin typeface="Times New Roman"/>
                <a:ea typeface="Times New Roman"/>
              </a:rPr>
              <a:t>Limited Personalization</a:t>
            </a:r>
            <a:br>
              <a:rPr lang="en-US" dirty="0">
                <a:latin typeface="Times New Roman"/>
                <a:ea typeface="Times New Roman"/>
              </a:rPr>
            </a:br>
            <a:r>
              <a:rPr lang="en-US" dirty="0">
                <a:latin typeface="Times New Roman"/>
                <a:ea typeface="Times New Roman"/>
              </a:rPr>
              <a:t>Most existing itinerary generators rely on static templates or generic recommendations that do not adapt well to individual preferences, travel styles, or budgets.</a:t>
            </a:r>
          </a:p>
          <a:p>
            <a:pPr>
              <a:lnSpc>
                <a:spcPct val="150000"/>
              </a:lnSpc>
            </a:pPr>
            <a:r>
              <a:rPr lang="en-US" dirty="0">
                <a:latin typeface="Symbol"/>
                <a:ea typeface="Times New Roman"/>
              </a:rPr>
              <a:t>·</a:t>
            </a:r>
            <a:r>
              <a:rPr lang="en-US" dirty="0">
                <a:latin typeface="Times New Roman"/>
                <a:ea typeface="Times New Roman"/>
              </a:rPr>
              <a:t>  </a:t>
            </a:r>
            <a:r>
              <a:rPr lang="en-US" b="1" dirty="0">
                <a:latin typeface="Times New Roman"/>
                <a:ea typeface="Times New Roman"/>
              </a:rPr>
              <a:t>Lack of Real-Time Updates</a:t>
            </a:r>
            <a:br>
              <a:rPr lang="en-US" dirty="0">
                <a:latin typeface="Times New Roman"/>
                <a:ea typeface="Times New Roman"/>
              </a:rPr>
            </a:br>
            <a:r>
              <a:rPr lang="en-US" dirty="0">
                <a:latin typeface="Times New Roman"/>
                <a:ea typeface="Times New Roman"/>
              </a:rPr>
              <a:t>Many systems do not provide real-time information such as changes in weather, flight delays, or local event schedules, which can make itineraries less reliable.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0"/>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2800" b="1" strike="noStrike" spc="-1" dirty="0">
                <a:solidFill>
                  <a:srgbClr val="000000"/>
                </a:solidFill>
                <a:latin typeface="Times New Roman" panose="02020603050405020304" pitchFamily="18" charset="0"/>
                <a:ea typeface="DejaVu Sans"/>
                <a:cs typeface="Times New Roman" panose="02020603050405020304" pitchFamily="18" charset="0"/>
              </a:rPr>
              <a:t>Proposed System</a:t>
            </a:r>
            <a:endParaRPr lang="en-IN" sz="28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74160CC-D8EC-52F7-7BCC-FC999B0EC6C1}"/>
              </a:ext>
            </a:extLst>
          </p:cNvPr>
          <p:cNvSpPr>
            <a:spLocks noChangeArrowheads="1"/>
          </p:cNvSpPr>
          <p:nvPr/>
        </p:nvSpPr>
        <p:spPr bwMode="auto">
          <a:xfrm>
            <a:off x="846350" y="1129563"/>
            <a:ext cx="8719930" cy="4202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a:latin typeface="Times New Roman"/>
                <a:ea typeface="Calibri"/>
                <a:cs typeface="Times New Roman"/>
              </a:rPr>
              <a:t>The proposed Travel Plan Itinerary Generator leverages artificial intelligence and machine learning to create personalized, adaptive, and context-aware itineraries. By analyzing user preferences, travel history, and real-time data such as weather forecasts, traffic conditions, and local event schedules, the system dynamically optimizes daily plans to maximize user satisfaction. It integrates multiple data sources, including reviews, social media trends, and transportation options, to recommend not only popular destinations but also off-the-beaten-path experiences tailored to individual interests. Additionally, the system features natural language processing for intuitive user interaction and continuous learning capabilities to refine recommendations over time. This results in a highly customizable, efficient, and enjoyable travel planning tool that significantly outperforms traditional itinerary generators.</a:t>
            </a:r>
            <a:endParaRPr lang="en-US" sz="1400" dirty="0">
              <a:latin typeface="Calibri"/>
              <a:ea typeface="Calibri"/>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2"/>
          <p:cNvSpPr/>
          <p:nvPr/>
        </p:nvSpPr>
        <p:spPr>
          <a:xfrm>
            <a:off x="502560" y="225720"/>
            <a:ext cx="9063720" cy="939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pPr>
            <a:r>
              <a:rPr lang="en-US" sz="4400" b="0" strike="noStrike" spc="-1">
                <a:solidFill>
                  <a:srgbClr val="000000"/>
                </a:solidFill>
                <a:latin typeface="Calibri"/>
                <a:ea typeface="DejaVu Sans"/>
              </a:rPr>
              <a:t>Advantages</a:t>
            </a:r>
            <a:endParaRPr lang="en-IN" sz="4400" b="0" strike="noStrike" spc="-1">
              <a:solidFill>
                <a:srgbClr val="000000"/>
              </a:solidFill>
              <a:latin typeface="Arial"/>
            </a:endParaRPr>
          </a:p>
        </p:txBody>
      </p:sp>
      <p:sp>
        <p:nvSpPr>
          <p:cNvPr id="3" name="Rectangle 1">
            <a:extLst>
              <a:ext uri="{FF2B5EF4-FFF2-40B4-BE49-F238E27FC236}">
                <a16:creationId xmlns:a16="http://schemas.microsoft.com/office/drawing/2014/main" id="{8EC1ED73-8027-7564-7E45-8E5E7ADF29AD}"/>
              </a:ext>
            </a:extLst>
          </p:cNvPr>
          <p:cNvSpPr>
            <a:spLocks noChangeArrowheads="1"/>
          </p:cNvSpPr>
          <p:nvPr/>
        </p:nvSpPr>
        <p:spPr bwMode="auto">
          <a:xfrm>
            <a:off x="850626" y="1090806"/>
            <a:ext cx="8817810"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dirty="0">
                <a:latin typeface="Symbol"/>
                <a:ea typeface="Times New Roman"/>
              </a:rPr>
              <a:t>·</a:t>
            </a:r>
            <a:r>
              <a:rPr lang="en-US" dirty="0">
                <a:latin typeface="Times New Roman"/>
                <a:ea typeface="Times New Roman"/>
              </a:rPr>
              <a:t>  </a:t>
            </a:r>
            <a:r>
              <a:rPr lang="en-US" b="1" dirty="0">
                <a:latin typeface="Times New Roman"/>
                <a:ea typeface="Times New Roman"/>
              </a:rPr>
              <a:t>Personalized Itinerary Generation</a:t>
            </a:r>
            <a:br>
              <a:rPr lang="en-US" dirty="0">
                <a:latin typeface="Times New Roman"/>
                <a:ea typeface="Times New Roman"/>
              </a:rPr>
            </a:br>
            <a:r>
              <a:rPr lang="en-US" dirty="0">
                <a:latin typeface="Times New Roman"/>
                <a:ea typeface="Times New Roman"/>
              </a:rPr>
              <a:t>Utilizing AI and machine learning, the proposed system customizes travel plans based on user preferences, interests, budget, and past travel behavior for highly tailored experiences.</a:t>
            </a:r>
          </a:p>
          <a:p>
            <a:pPr>
              <a:lnSpc>
                <a:spcPct val="150000"/>
              </a:lnSpc>
            </a:pPr>
            <a:r>
              <a:rPr lang="en-US" dirty="0">
                <a:latin typeface="Symbol"/>
                <a:ea typeface="Times New Roman"/>
              </a:rPr>
              <a:t>·</a:t>
            </a:r>
            <a:r>
              <a:rPr lang="en-US" dirty="0">
                <a:latin typeface="Times New Roman"/>
                <a:ea typeface="Times New Roman"/>
              </a:rPr>
              <a:t>  </a:t>
            </a:r>
            <a:r>
              <a:rPr lang="en-US" b="1" dirty="0">
                <a:latin typeface="Times New Roman"/>
                <a:ea typeface="Times New Roman"/>
              </a:rPr>
              <a:t>Real-Time Data Integration</a:t>
            </a:r>
            <a:br>
              <a:rPr lang="en-US" dirty="0">
                <a:latin typeface="Times New Roman"/>
                <a:ea typeface="Times New Roman"/>
              </a:rPr>
            </a:br>
            <a:r>
              <a:rPr lang="en-US" dirty="0">
                <a:latin typeface="Times New Roman"/>
                <a:ea typeface="Times New Roman"/>
              </a:rPr>
              <a:t>Incorporates live updates on weather, flight statuses, traffic conditions, and local events to dynamically adjust the itinerary and minimize disruptions.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4"/>
          <p:cNvSpPr/>
          <p:nvPr/>
        </p:nvSpPr>
        <p:spPr>
          <a:xfrm>
            <a:off x="673920" y="187920"/>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62500" lnSpcReduction="20000"/>
          </a:bodyPr>
          <a:lstStyle/>
          <a:p>
            <a:pPr>
              <a:lnSpc>
                <a:spcPct val="100000"/>
              </a:lnSpc>
            </a:pPr>
            <a:r>
              <a:rPr lang="en-US" sz="4400" b="1" u="sng" strike="noStrike" spc="-1" dirty="0">
                <a:solidFill>
                  <a:srgbClr val="775F55"/>
                </a:solidFill>
                <a:uFillTx/>
                <a:latin typeface="Times New Roman" panose="02020603050405020304" pitchFamily="18" charset="0"/>
                <a:ea typeface="DejaVu Sans"/>
                <a:cs typeface="Times New Roman" panose="02020603050405020304" pitchFamily="18" charset="0"/>
              </a:rPr>
              <a:t>HARDWARE REQUIREMENTS:</a:t>
            </a:r>
            <a:br>
              <a:rPr sz="4400" dirty="0">
                <a:latin typeface="Times New Roman" panose="02020603050405020304" pitchFamily="18" charset="0"/>
                <a:cs typeface="Times New Roman" panose="02020603050405020304" pitchFamily="18" charset="0"/>
              </a:rPr>
            </a:br>
            <a:endParaRPr lang="en-IN" sz="4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71" name="CustomShape 13"/>
          <p:cNvSpPr/>
          <p:nvPr/>
        </p:nvSpPr>
        <p:spPr>
          <a:xfrm>
            <a:off x="594256" y="1000080"/>
            <a:ext cx="8892111" cy="88670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320040" indent="-316440">
              <a:lnSpc>
                <a:spcPct val="100000"/>
              </a:lnSpc>
              <a:spcBef>
                <a:spcPts val="700"/>
              </a:spcBef>
              <a:buClr>
                <a:srgbClr val="DD8047"/>
              </a:buClr>
              <a:buSzPct val="60000"/>
              <a:buFont typeface="Wingdings" charset="2"/>
              <a:buChar char=""/>
            </a:pPr>
            <a:r>
              <a:rPr lang="en-GB" sz="2000" b="0" strike="noStrike" spc="-1" dirty="0">
                <a:solidFill>
                  <a:srgbClr val="000000"/>
                </a:solidFill>
                <a:latin typeface="Tw Cen MT"/>
                <a:ea typeface="DejaVu Sans"/>
              </a:rPr>
              <a:t>System		 			: 	i3</a:t>
            </a:r>
            <a:endParaRPr lang="en-IN" sz="2000" b="0" strike="noStrike" spc="-1" dirty="0">
              <a:solidFill>
                <a:srgbClr val="000000"/>
              </a:solidFill>
              <a:latin typeface="Arial"/>
            </a:endParaRPr>
          </a:p>
          <a:p>
            <a:pPr marL="320040" indent="-316440">
              <a:lnSpc>
                <a:spcPct val="100000"/>
              </a:lnSpc>
              <a:spcBef>
                <a:spcPts val="700"/>
              </a:spcBef>
              <a:buClr>
                <a:srgbClr val="DD8047"/>
              </a:buClr>
              <a:buSzPct val="60000"/>
              <a:buFont typeface="Wingdings" charset="2"/>
              <a:buChar char=""/>
            </a:pPr>
            <a:r>
              <a:rPr lang="en-GB" sz="2000" b="0" strike="noStrike" spc="-1" dirty="0">
                <a:solidFill>
                  <a:srgbClr val="000000"/>
                </a:solidFill>
                <a:latin typeface="Tw Cen MT"/>
                <a:ea typeface="DejaVu Sans"/>
              </a:rPr>
              <a:t>Hard Disk           			: 	250 GB</a:t>
            </a:r>
            <a:endParaRPr lang="en-IN" sz="2000" b="0" strike="noStrike" spc="-1" dirty="0">
              <a:solidFill>
                <a:srgbClr val="000000"/>
              </a:solidFill>
              <a:latin typeface="Arial"/>
            </a:endParaRPr>
          </a:p>
          <a:p>
            <a:pPr marL="320040" indent="-316440">
              <a:lnSpc>
                <a:spcPct val="100000"/>
              </a:lnSpc>
              <a:spcBef>
                <a:spcPts val="700"/>
              </a:spcBef>
              <a:buClr>
                <a:srgbClr val="DD8047"/>
              </a:buClr>
              <a:buSzPct val="60000"/>
              <a:buFont typeface="Wingdings" charset="2"/>
              <a:buChar char=""/>
            </a:pPr>
            <a:r>
              <a:rPr lang="en-GB" sz="2000" b="0" strike="noStrike" spc="-1" dirty="0">
                <a:solidFill>
                  <a:srgbClr val="000000"/>
                </a:solidFill>
                <a:latin typeface="Tw Cen MT"/>
                <a:ea typeface="DejaVu Sans"/>
              </a:rPr>
              <a:t>RAM						:	4 GB</a:t>
            </a:r>
            <a:endParaRPr lang="en-IN" sz="2000" b="0" strike="noStrike" spc="-1" dirty="0">
              <a:solidFill>
                <a:srgbClr val="000000"/>
              </a:solidFill>
              <a:latin typeface="Arial"/>
            </a:endParaRPr>
          </a:p>
          <a:p>
            <a:pPr>
              <a:lnSpc>
                <a:spcPct val="100000"/>
              </a:lnSpc>
              <a:spcBef>
                <a:spcPts val="700"/>
              </a:spcBef>
            </a:pPr>
            <a:endParaRPr lang="en-IN" sz="2900" b="0" strike="noStrike" spc="-1" dirty="0">
              <a:solidFill>
                <a:srgbClr val="000000"/>
              </a:solidFill>
              <a:latin typeface="Arial"/>
            </a:endParaRPr>
          </a:p>
        </p:txBody>
      </p:sp>
      <p:sp>
        <p:nvSpPr>
          <p:cNvPr id="2" name="TextBox 1">
            <a:extLst>
              <a:ext uri="{FF2B5EF4-FFF2-40B4-BE49-F238E27FC236}">
                <a16:creationId xmlns:a16="http://schemas.microsoft.com/office/drawing/2014/main" id="{F073FE03-EC9D-A997-6E84-9F84AC538C98}"/>
              </a:ext>
            </a:extLst>
          </p:cNvPr>
          <p:cNvSpPr txBox="1"/>
          <p:nvPr/>
        </p:nvSpPr>
        <p:spPr>
          <a:xfrm>
            <a:off x="837028" y="2637692"/>
            <a:ext cx="5358198" cy="523220"/>
          </a:xfrm>
          <a:prstGeom prst="rect">
            <a:avLst/>
          </a:prstGeom>
          <a:noFill/>
        </p:spPr>
        <p:txBody>
          <a:bodyPr wrap="none" rtlCol="0">
            <a:spAutoFit/>
          </a:bodyPr>
          <a:lstStyle/>
          <a:p>
            <a:r>
              <a:rPr lang="en-US" sz="2800" b="1" u="sng" spc="-1" dirty="0">
                <a:solidFill>
                  <a:srgbClr val="775F55"/>
                </a:solidFill>
                <a:latin typeface="Times New Roman" panose="02020603050405020304" pitchFamily="18" charset="0"/>
                <a:ea typeface="DejaVu Sans"/>
                <a:cs typeface="Times New Roman" panose="02020603050405020304" pitchFamily="18" charset="0"/>
              </a:rPr>
              <a:t>SOFTWARE REQUIREMENTS: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F3CCFC1-5F7B-820A-9CAA-B7873E488308}"/>
              </a:ext>
            </a:extLst>
          </p:cNvPr>
          <p:cNvSpPr txBox="1"/>
          <p:nvPr/>
        </p:nvSpPr>
        <p:spPr>
          <a:xfrm>
            <a:off x="837028" y="3488788"/>
            <a:ext cx="5386731" cy="1013098"/>
          </a:xfrm>
          <a:prstGeom prst="rect">
            <a:avLst/>
          </a:prstGeom>
          <a:noFill/>
        </p:spPr>
        <p:txBody>
          <a:bodyPr wrap="none" rtlCol="0">
            <a:spAutoFit/>
          </a:bodyPr>
          <a:lstStyle/>
          <a:p>
            <a:pPr marL="320040" indent="-316440">
              <a:lnSpc>
                <a:spcPct val="100000"/>
              </a:lnSpc>
              <a:spcBef>
                <a:spcPts val="700"/>
              </a:spcBef>
              <a:buClr>
                <a:srgbClr val="DD8047"/>
              </a:buClr>
              <a:buSzPct val="60000"/>
              <a:buFont typeface="Wingdings" charset="2"/>
              <a:buChar char=""/>
            </a:pPr>
            <a:r>
              <a:rPr lang="en-US" spc="-1" dirty="0">
                <a:solidFill>
                  <a:srgbClr val="000000"/>
                </a:solidFill>
                <a:latin typeface="Tw Cen MT"/>
                <a:ea typeface="DejaVu Sans"/>
              </a:rPr>
              <a:t>Operating system 			: 	Windows Family</a:t>
            </a:r>
            <a:endParaRPr lang="en-IN" spc="-1" dirty="0">
              <a:solidFill>
                <a:srgbClr val="000000"/>
              </a:solidFill>
              <a:latin typeface="Arial"/>
            </a:endParaRPr>
          </a:p>
          <a:p>
            <a:pPr marL="320040" indent="-316440">
              <a:lnSpc>
                <a:spcPct val="100000"/>
              </a:lnSpc>
              <a:spcBef>
                <a:spcPts val="700"/>
              </a:spcBef>
              <a:buClr>
                <a:srgbClr val="DD8047"/>
              </a:buClr>
              <a:buSzPct val="60000"/>
              <a:buFont typeface="Wingdings" charset="2"/>
              <a:buChar char=""/>
            </a:pPr>
            <a:r>
              <a:rPr lang="en-US" spc="-1" dirty="0">
                <a:solidFill>
                  <a:srgbClr val="000000"/>
                </a:solidFill>
                <a:latin typeface="Tw Cen MT"/>
                <a:ea typeface="DejaVu Sans"/>
              </a:rPr>
              <a:t>Coding Language			: 	Python</a:t>
            </a:r>
            <a:endParaRPr lang="en-IN" spc="-1" dirty="0">
              <a:solidFill>
                <a:srgbClr val="000000"/>
              </a:solidFill>
              <a:latin typeface="Arial"/>
            </a:endParaRP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3600" y="417600"/>
            <a:ext cx="5215871" cy="646331"/>
          </a:xfrm>
          <a:prstGeom prst="rect">
            <a:avLst/>
          </a:prstGeom>
          <a:noFill/>
        </p:spPr>
        <p:txBody>
          <a:bodyPr wrap="square" rtlCol="0">
            <a:spAutoFit/>
          </a:bodyPr>
          <a:lstStyle/>
          <a:p>
            <a:r>
              <a:rPr lang="en-IN" sz="3600" b="1" dirty="0">
                <a:latin typeface="Times New Roman" pitchFamily="18" charset="0"/>
                <a:cs typeface="Times New Roman" pitchFamily="18" charset="0"/>
              </a:rPr>
              <a:t>System Architecture:</a:t>
            </a:r>
            <a:endParaRPr lang="en-US" sz="3600" b="1" dirty="0">
              <a:latin typeface="Times New Roman" pitchFamily="18" charset="0"/>
              <a:cs typeface="Times New Roman" pitchFamily="18" charset="0"/>
            </a:endParaRPr>
          </a:p>
        </p:txBody>
      </p:sp>
      <p:pic>
        <p:nvPicPr>
          <p:cNvPr id="17" name="Picture 16" descr="C:\Users\sandeep\OneDrive\Desktop\2 Months Schedule\CSS\Architecture-of-our-proposed-trip-planner-system-The-real-time-processing-of-the-GPS.png"/>
          <p:cNvPicPr/>
          <p:nvPr/>
        </p:nvPicPr>
        <p:blipFill>
          <a:blip r:embed="rId2"/>
          <a:srcRect/>
          <a:stretch>
            <a:fillRect/>
          </a:stretch>
        </p:blipFill>
        <p:spPr bwMode="auto">
          <a:xfrm>
            <a:off x="2070735" y="1382395"/>
            <a:ext cx="5939155" cy="290576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CustomShape 19"/>
          <p:cNvSpPr/>
          <p:nvPr/>
        </p:nvSpPr>
        <p:spPr>
          <a:xfrm>
            <a:off x="673920" y="187920"/>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gn="ctr">
              <a:lnSpc>
                <a:spcPct val="100000"/>
              </a:lnSpc>
            </a:pPr>
            <a:endParaRPr lang="en-IN" sz="4400" b="0" strike="noStrike" spc="-1" dirty="0">
              <a:solidFill>
                <a:srgbClr val="000000"/>
              </a:solidFill>
              <a:latin typeface="Arial"/>
            </a:endParaRPr>
          </a:p>
        </p:txBody>
      </p:sp>
      <p:sp>
        <p:nvSpPr>
          <p:cNvPr id="183" name="CustomShape 20"/>
          <p:cNvSpPr/>
          <p:nvPr/>
        </p:nvSpPr>
        <p:spPr>
          <a:xfrm>
            <a:off x="631080" y="824400"/>
            <a:ext cx="8978760" cy="37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8000"/>
              </a:lnSpc>
              <a:spcAft>
                <a:spcPts val="799"/>
              </a:spcAft>
            </a:pPr>
            <a:endParaRPr lang="en-IN" sz="1800" b="0" strike="noStrike" spc="-1">
              <a:solidFill>
                <a:srgbClr val="000000"/>
              </a:solidFill>
              <a:latin typeface="Times New Roman"/>
              <a:ea typeface="Times New Roman"/>
            </a:endParaRPr>
          </a:p>
        </p:txBody>
      </p:sp>
      <p:pic>
        <p:nvPicPr>
          <p:cNvPr id="20" name="Picture 19"/>
          <p:cNvPicPr/>
          <p:nvPr/>
        </p:nvPicPr>
        <p:blipFill>
          <a:blip r:embed="rId2"/>
          <a:srcRect/>
          <a:stretch>
            <a:fillRect/>
          </a:stretch>
        </p:blipFill>
        <p:spPr bwMode="auto">
          <a:xfrm>
            <a:off x="588240" y="3371794"/>
            <a:ext cx="1872709" cy="2323372"/>
          </a:xfrm>
          <a:prstGeom prst="rect">
            <a:avLst/>
          </a:prstGeom>
          <a:noFill/>
          <a:ln w="9525">
            <a:noFill/>
            <a:miter lim="800000"/>
            <a:headEnd/>
            <a:tailEnd/>
          </a:ln>
        </p:spPr>
      </p:pic>
      <p:sp>
        <p:nvSpPr>
          <p:cNvPr id="8" name="TextBox 7">
            <a:extLst>
              <a:ext uri="{FF2B5EF4-FFF2-40B4-BE49-F238E27FC236}">
                <a16:creationId xmlns:a16="http://schemas.microsoft.com/office/drawing/2014/main" id="{C9D2418E-A01F-88B3-4241-F553367B4259}"/>
              </a:ext>
            </a:extLst>
          </p:cNvPr>
          <p:cNvSpPr txBox="1"/>
          <p:nvPr/>
        </p:nvSpPr>
        <p:spPr>
          <a:xfrm>
            <a:off x="352800" y="1317600"/>
            <a:ext cx="5810400"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Class Diagram</a:t>
            </a:r>
            <a:r>
              <a:rPr lang="en-US" dirty="0">
                <a:latin typeface="Times New Roman" panose="02020603050405020304" pitchFamily="18" charset="0"/>
                <a:cs typeface="Times New Roman" panose="02020603050405020304" pitchFamily="18" charset="0"/>
              </a:rPr>
              <a:t> defines the system’s structure. Key classes include </a:t>
            </a:r>
            <a:r>
              <a:rPr lang="en-US" b="1" dirty="0">
                <a:latin typeface="Times New Roman" panose="02020603050405020304" pitchFamily="18" charset="0"/>
                <a:cs typeface="Times New Roman" panose="02020603050405020304" pitchFamily="18" charset="0"/>
              </a:rPr>
              <a:t>User</a:t>
            </a:r>
            <a:r>
              <a:rPr lang="en-US" dirty="0">
                <a:latin typeface="Times New Roman" panose="02020603050405020304" pitchFamily="18" charset="0"/>
                <a:cs typeface="Times New Roman" panose="02020603050405020304" pitchFamily="18" charset="0"/>
              </a:rPr>
              <a:t> (handles authentication), </a:t>
            </a:r>
            <a:r>
              <a:rPr lang="en-US" b="1" dirty="0" err="1">
                <a:latin typeface="Times New Roman" panose="02020603050405020304" pitchFamily="18" charset="0"/>
                <a:cs typeface="Times New Roman" panose="02020603050405020304" pitchFamily="18" charset="0"/>
              </a:rPr>
              <a:t>TravelPlan</a:t>
            </a:r>
            <a:r>
              <a:rPr lang="en-US" dirty="0">
                <a:latin typeface="Times New Roman" panose="02020603050405020304" pitchFamily="18" charset="0"/>
                <a:cs typeface="Times New Roman" panose="02020603050405020304" pitchFamily="18" charset="0"/>
              </a:rPr>
              <a:t> (stores trip details), </a:t>
            </a:r>
            <a:r>
              <a:rPr lang="en-US" b="1" dirty="0" err="1">
                <a:latin typeface="Times New Roman" panose="02020603050405020304" pitchFamily="18" charset="0"/>
                <a:cs typeface="Times New Roman" panose="02020603050405020304" pitchFamily="18" charset="0"/>
              </a:rPr>
              <a:t>RAGModel</a:t>
            </a:r>
            <a:r>
              <a:rPr lang="en-US" dirty="0">
                <a:latin typeface="Times New Roman" panose="02020603050405020304" pitchFamily="18" charset="0"/>
                <a:cs typeface="Times New Roman" panose="02020603050405020304" pitchFamily="18" charset="0"/>
              </a:rPr>
              <a:t> (ranks itineraries), </a:t>
            </a:r>
            <a:r>
              <a:rPr lang="en-US" b="1" dirty="0">
                <a:latin typeface="Times New Roman" panose="02020603050405020304" pitchFamily="18" charset="0"/>
                <a:cs typeface="Times New Roman" panose="02020603050405020304" pitchFamily="18" charset="0"/>
              </a:rPr>
              <a:t>Itinerary</a:t>
            </a:r>
            <a:r>
              <a:rPr lang="en-US" dirty="0">
                <a:latin typeface="Times New Roman" panose="02020603050405020304" pitchFamily="18" charset="0"/>
                <a:cs typeface="Times New Roman" panose="02020603050405020304" pitchFamily="18" charset="0"/>
              </a:rPr>
              <a:t> (stores the final travel plan), and </a:t>
            </a:r>
            <a:r>
              <a:rPr lang="en-US" b="1" dirty="0" err="1">
                <a:latin typeface="Times New Roman" panose="02020603050405020304" pitchFamily="18" charset="0"/>
                <a:cs typeface="Times New Roman" panose="02020603050405020304" pitchFamily="18" charset="0"/>
              </a:rPr>
              <a:t>WebScraper</a:t>
            </a:r>
            <a:r>
              <a:rPr lang="en-US" dirty="0">
                <a:latin typeface="Times New Roman" panose="02020603050405020304" pitchFamily="18" charset="0"/>
                <a:cs typeface="Times New Roman" panose="02020603050405020304" pitchFamily="18" charset="0"/>
              </a:rPr>
              <a:t> (downloads images). Attributes and methods for each class define their roles and interactions.</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9A3CEAD-CF92-33E7-1DE5-6A5CE73F0D43}"/>
              </a:ext>
            </a:extLst>
          </p:cNvPr>
          <p:cNvSpPr txBox="1"/>
          <p:nvPr/>
        </p:nvSpPr>
        <p:spPr>
          <a:xfrm>
            <a:off x="2815200" y="345600"/>
            <a:ext cx="29808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Class Diagram</a:t>
            </a:r>
            <a:endParaRPr lang="en-IN" sz="3200" dirty="0"/>
          </a:p>
        </p:txBody>
      </p:sp>
      <p:pic>
        <p:nvPicPr>
          <p:cNvPr id="11" name="Picture 10">
            <a:extLst>
              <a:ext uri="{FF2B5EF4-FFF2-40B4-BE49-F238E27FC236}">
                <a16:creationId xmlns:a16="http://schemas.microsoft.com/office/drawing/2014/main" id="{9E1DE9AE-5F9E-8552-424F-2975361EEC0F}"/>
              </a:ext>
            </a:extLst>
          </p:cNvPr>
          <p:cNvPicPr/>
          <p:nvPr/>
        </p:nvPicPr>
        <p:blipFill>
          <a:blip r:embed="rId3"/>
          <a:stretch>
            <a:fillRect/>
          </a:stretch>
        </p:blipFill>
        <p:spPr>
          <a:xfrm>
            <a:off x="6285420" y="1154425"/>
            <a:ext cx="3345840" cy="41650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6000" y="-143999"/>
            <a:ext cx="8618400" cy="1003673"/>
          </a:xfrm>
          <a:prstGeom prst="rect">
            <a:avLst/>
          </a:prstGeom>
          <a:noFill/>
        </p:spPr>
        <p:txBody>
          <a:bodyPr wrap="square" rtlCol="0">
            <a:spAutoFit/>
          </a:bodyPr>
          <a:lstStyle/>
          <a:p>
            <a:pPr lvl="0" algn="ctr">
              <a:lnSpc>
                <a:spcPts val="8100"/>
              </a:lnSpc>
            </a:pPr>
            <a:r>
              <a:rPr lang="en-US" sz="4400" b="1" dirty="0">
                <a:solidFill>
                  <a:srgbClr val="5D7241"/>
                </a:solidFill>
                <a:latin typeface="Times New Roman" panose="02020603050405020304" pitchFamily="18" charset="0"/>
                <a:ea typeface="League Spartan"/>
                <a:cs typeface="Times New Roman" panose="02020603050405020304" pitchFamily="18" charset="0"/>
                <a:sym typeface="League Spartan"/>
              </a:rPr>
              <a:t>USE CASE DIAGRAM</a:t>
            </a:r>
          </a:p>
        </p:txBody>
      </p:sp>
      <p:pic>
        <p:nvPicPr>
          <p:cNvPr id="3" name="Picture 2">
            <a:extLst>
              <a:ext uri="{FF2B5EF4-FFF2-40B4-BE49-F238E27FC236}">
                <a16:creationId xmlns:a16="http://schemas.microsoft.com/office/drawing/2014/main" id="{9C5F5A37-0E09-6BC5-8973-449DC5FAEF2F}"/>
              </a:ext>
            </a:extLst>
          </p:cNvPr>
          <p:cNvPicPr/>
          <p:nvPr/>
        </p:nvPicPr>
        <p:blipFill>
          <a:blip r:embed="rId2"/>
          <a:stretch>
            <a:fillRect/>
          </a:stretch>
        </p:blipFill>
        <p:spPr>
          <a:xfrm>
            <a:off x="563712" y="3067200"/>
            <a:ext cx="6477888" cy="2264379"/>
          </a:xfrm>
          <a:prstGeom prst="rect">
            <a:avLst/>
          </a:prstGeom>
        </p:spPr>
      </p:pic>
      <p:sp>
        <p:nvSpPr>
          <p:cNvPr id="8" name="Content Placeholder 7">
            <a:extLst>
              <a:ext uri="{FF2B5EF4-FFF2-40B4-BE49-F238E27FC236}">
                <a16:creationId xmlns:a16="http://schemas.microsoft.com/office/drawing/2014/main" id="{5BA25D5E-CD27-F6BA-9F51-219E6EC51589}"/>
              </a:ext>
            </a:extLst>
          </p:cNvPr>
          <p:cNvSpPr>
            <a:spLocks noGrp="1"/>
          </p:cNvSpPr>
          <p:nvPr>
            <p:ph idx="1"/>
          </p:nvPr>
        </p:nvSpPr>
        <p:spPr>
          <a:xfrm>
            <a:off x="7302911" y="1080000"/>
            <a:ext cx="2475313" cy="3683262"/>
          </a:xfrm>
        </p:spPr>
        <p:txBody>
          <a:bodyPr>
            <a:normAutofit fontScale="40000" lnSpcReduction="20000"/>
          </a:bodyPr>
          <a:lstStyle/>
          <a:p>
            <a:r>
              <a:rPr lang="en-IN" b="1" dirty="0">
                <a:solidFill>
                  <a:schemeClr val="tx1"/>
                </a:solidFill>
                <a:highlight>
                  <a:srgbClr val="FFFF00"/>
                </a:highlight>
              </a:rPr>
              <a:t>Main Use Cases: </a:t>
            </a:r>
            <a:r>
              <a:rPr lang="en-IN" dirty="0">
                <a:solidFill>
                  <a:schemeClr val="tx1"/>
                </a:solidFill>
                <a:highlight>
                  <a:srgbClr val="FFFF00"/>
                </a:highlight>
              </a:rPr>
              <a:t> </a:t>
            </a:r>
          </a:p>
          <a:p>
            <a:pPr lvl="0" fontAlgn="base"/>
            <a:r>
              <a:rPr lang="en-IN" dirty="0">
                <a:solidFill>
                  <a:schemeClr val="tx1"/>
                </a:solidFill>
                <a:highlight>
                  <a:srgbClr val="FFFF00"/>
                </a:highlight>
              </a:rPr>
              <a:t>Register Account </a:t>
            </a:r>
          </a:p>
          <a:p>
            <a:pPr lvl="0" fontAlgn="base"/>
            <a:r>
              <a:rPr lang="en-IN" dirty="0">
                <a:solidFill>
                  <a:schemeClr val="tx1"/>
                </a:solidFill>
                <a:highlight>
                  <a:srgbClr val="FFFF00"/>
                </a:highlight>
              </a:rPr>
              <a:t>Login </a:t>
            </a:r>
          </a:p>
          <a:p>
            <a:pPr lvl="0" fontAlgn="base"/>
            <a:r>
              <a:rPr lang="en-IN" dirty="0">
                <a:solidFill>
                  <a:schemeClr val="tx1"/>
                </a:solidFill>
                <a:highlight>
                  <a:srgbClr val="FFFF00"/>
                </a:highlight>
              </a:rPr>
              <a:t>Enter Travel Preferences </a:t>
            </a:r>
          </a:p>
          <a:p>
            <a:pPr lvl="0" fontAlgn="base"/>
            <a:r>
              <a:rPr lang="en-IN" dirty="0">
                <a:solidFill>
                  <a:schemeClr val="tx1"/>
                </a:solidFill>
                <a:highlight>
                  <a:srgbClr val="FFFF00"/>
                </a:highlight>
              </a:rPr>
              <a:t>Generate Itinerary </a:t>
            </a:r>
          </a:p>
          <a:p>
            <a:pPr lvl="0" fontAlgn="base"/>
            <a:r>
              <a:rPr lang="en-IN" dirty="0">
                <a:solidFill>
                  <a:schemeClr val="tx1"/>
                </a:solidFill>
                <a:highlight>
                  <a:srgbClr val="FFFF00"/>
                </a:highlight>
              </a:rPr>
              <a:t>View Recommended Hotels </a:t>
            </a:r>
          </a:p>
          <a:p>
            <a:pPr lvl="0" fontAlgn="base"/>
            <a:r>
              <a:rPr lang="en-IN" dirty="0">
                <a:solidFill>
                  <a:schemeClr val="tx1"/>
                </a:solidFill>
                <a:highlight>
                  <a:srgbClr val="FFFF00"/>
                </a:highlight>
              </a:rPr>
              <a:t>View Nearby Attractions </a:t>
            </a:r>
          </a:p>
          <a:p>
            <a:pPr lvl="0" fontAlgn="base"/>
            <a:r>
              <a:rPr lang="en-IN" dirty="0">
                <a:solidFill>
                  <a:schemeClr val="tx1"/>
                </a:solidFill>
                <a:highlight>
                  <a:srgbClr val="FFFF00"/>
                </a:highlight>
              </a:rPr>
              <a:t>View Weather Information </a:t>
            </a:r>
          </a:p>
          <a:p>
            <a:pPr lvl="0" fontAlgn="base"/>
            <a:r>
              <a:rPr lang="en-IN" dirty="0">
                <a:solidFill>
                  <a:schemeClr val="tx1"/>
                </a:solidFill>
                <a:highlight>
                  <a:srgbClr val="FFFF00"/>
                </a:highlight>
              </a:rPr>
              <a:t>Download Itinerary (PDF/Word) </a:t>
            </a:r>
          </a:p>
          <a:p>
            <a:pPr lvl="0" fontAlgn="base"/>
            <a:r>
              <a:rPr lang="en-IN" dirty="0">
                <a:solidFill>
                  <a:schemeClr val="tx1"/>
                </a:solidFill>
                <a:highlight>
                  <a:srgbClr val="FFFF00"/>
                </a:highlight>
              </a:rPr>
              <a:t>Save Itinerary </a:t>
            </a:r>
          </a:p>
          <a:p>
            <a:pPr lvl="0" fontAlgn="base"/>
            <a:r>
              <a:rPr lang="en-IN" dirty="0">
                <a:solidFill>
                  <a:schemeClr val="tx1"/>
                </a:solidFill>
                <a:highlight>
                  <a:srgbClr val="FFFF00"/>
                </a:highlight>
              </a:rPr>
              <a:t>Update/Delete Itinerary </a:t>
            </a:r>
          </a:p>
          <a:p>
            <a:pPr lvl="0" fontAlgn="base"/>
            <a:r>
              <a:rPr lang="en-IN" dirty="0">
                <a:solidFill>
                  <a:schemeClr val="tx1"/>
                </a:solidFill>
                <a:highlight>
                  <a:srgbClr val="FFFF00"/>
                </a:highlight>
              </a:rPr>
              <a:t>Admin manages destinations, data sources </a:t>
            </a:r>
          </a:p>
          <a:p>
            <a:endParaRPr lang="en-IN" dirty="0"/>
          </a:p>
        </p:txBody>
      </p:sp>
      <p:sp>
        <p:nvSpPr>
          <p:cNvPr id="9" name="Text Placeholder 8">
            <a:extLst>
              <a:ext uri="{FF2B5EF4-FFF2-40B4-BE49-F238E27FC236}">
                <a16:creationId xmlns:a16="http://schemas.microsoft.com/office/drawing/2014/main" id="{2F141650-5EAC-4278-7F2B-71D246F4FBBA}"/>
              </a:ext>
            </a:extLst>
          </p:cNvPr>
          <p:cNvSpPr>
            <a:spLocks noGrp="1"/>
          </p:cNvSpPr>
          <p:nvPr>
            <p:ph type="body" sz="half" idx="2"/>
          </p:nvPr>
        </p:nvSpPr>
        <p:spPr>
          <a:xfrm>
            <a:off x="244800" y="1195200"/>
            <a:ext cx="6307200" cy="2023200"/>
          </a:xfrm>
        </p:spPr>
        <p:txBody>
          <a:bodyPr/>
          <a:lstStyle/>
          <a:p>
            <a:r>
              <a:rPr lang="en-US" sz="1800" dirty="0">
                <a:solidFill>
                  <a:schemeClr val="tx1"/>
                </a:solidFill>
                <a:latin typeface="Times New Roman" panose="02020603050405020304" pitchFamily="18" charset="0"/>
                <a:cs typeface="Times New Roman" panose="02020603050405020304" pitchFamily="18" charset="0"/>
              </a:rPr>
              <a:t>The </a:t>
            </a:r>
            <a:r>
              <a:rPr lang="en-US" sz="1800" b="1" dirty="0">
                <a:solidFill>
                  <a:schemeClr val="tx1"/>
                </a:solidFill>
                <a:latin typeface="Times New Roman" panose="02020603050405020304" pitchFamily="18" charset="0"/>
                <a:cs typeface="Times New Roman" panose="02020603050405020304" pitchFamily="18" charset="0"/>
              </a:rPr>
              <a:t>Use Case Diagram</a:t>
            </a:r>
            <a:r>
              <a:rPr lang="en-US" sz="1800" dirty="0">
                <a:solidFill>
                  <a:schemeClr val="tx1"/>
                </a:solidFill>
                <a:latin typeface="Times New Roman" panose="02020603050405020304" pitchFamily="18" charset="0"/>
                <a:cs typeface="Times New Roman" panose="02020603050405020304" pitchFamily="18" charset="0"/>
              </a:rPr>
              <a:t> shows how users and the system interact. Main actions include registering, logging in, entering travel preferences, generating itineraries, viewing hotels and attractions, saving or downloading plans, and admin management of destinations and data sources. It provides a high-level view of system functionality from the user’s perspective.</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3200" y="295201"/>
            <a:ext cx="8316000" cy="584775"/>
          </a:xfrm>
          <a:prstGeom prst="rect">
            <a:avLst/>
          </a:prstGeom>
          <a:noFill/>
        </p:spPr>
        <p:txBody>
          <a:bodyPr wrap="square" rtlCol="0">
            <a:spAutoFit/>
          </a:bodyPr>
          <a:lstStyle/>
          <a:p>
            <a:pPr algn="ctr"/>
            <a:r>
              <a:rPr lang="en-IN" sz="3200" b="1" dirty="0">
                <a:latin typeface="Times New Roman" pitchFamily="18" charset="0"/>
                <a:cs typeface="Times New Roman" pitchFamily="18" charset="0"/>
              </a:rPr>
              <a:t>Sequence Diagram:</a:t>
            </a:r>
            <a:endParaRPr lang="en-US" sz="3200" b="1"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9AFB8DB9-E68B-5846-C113-AA745C8801AB}"/>
              </a:ext>
            </a:extLst>
          </p:cNvPr>
          <p:cNvSpPr txBox="1"/>
          <p:nvPr/>
        </p:nvSpPr>
        <p:spPr>
          <a:xfrm>
            <a:off x="662400" y="1224000"/>
            <a:ext cx="5738400" cy="1793520"/>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DF8B8000-2822-A929-C0FA-E5A0ED0EC00A}"/>
              </a:ext>
            </a:extLst>
          </p:cNvPr>
          <p:cNvSpPr txBox="1"/>
          <p:nvPr/>
        </p:nvSpPr>
        <p:spPr>
          <a:xfrm>
            <a:off x="211579" y="1330658"/>
            <a:ext cx="6681590" cy="1815882"/>
          </a:xfrm>
          <a:prstGeom prst="rect">
            <a:avLst/>
          </a:prstGeom>
          <a:noFill/>
        </p:spPr>
        <p:txBody>
          <a:bodyPr wrap="square" rtlCol="0">
            <a:spAutoFit/>
          </a:bodyPr>
          <a:lstStyle/>
          <a:p>
            <a:r>
              <a:rPr lang="en-US" sz="2000" dirty="0"/>
              <a:t>The </a:t>
            </a:r>
            <a:r>
              <a:rPr lang="en-US" sz="2000" b="1" dirty="0"/>
              <a:t>Sequence Diagram</a:t>
            </a:r>
            <a:r>
              <a:rPr lang="en-US" sz="2000" dirty="0"/>
              <a:t> shows the interaction between </a:t>
            </a:r>
            <a:r>
              <a:rPr lang="en-US" dirty="0"/>
              <a:t>objects over time. Users log in, create a travel plan, generate itineraries through the </a:t>
            </a:r>
            <a:r>
              <a:rPr lang="en-US" dirty="0" err="1"/>
              <a:t>RAGModel</a:t>
            </a:r>
            <a:r>
              <a:rPr lang="en-US" dirty="0"/>
              <a:t>, fetch images using the </a:t>
            </a:r>
            <a:r>
              <a:rPr lang="en-US" dirty="0" err="1"/>
              <a:t>WebScraper</a:t>
            </a:r>
            <a:r>
              <a:rPr lang="en-US" dirty="0"/>
              <a:t>, and receive the final itinerary with recommendations. It clarifies the order of operations in the system.</a:t>
            </a:r>
          </a:p>
          <a:p>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9CD9A09-D11A-705A-5875-30C2777A3F64}"/>
              </a:ext>
            </a:extLst>
          </p:cNvPr>
          <p:cNvPicPr/>
          <p:nvPr/>
        </p:nvPicPr>
        <p:blipFill>
          <a:blip r:embed="rId2"/>
          <a:stretch>
            <a:fillRect/>
          </a:stretch>
        </p:blipFill>
        <p:spPr>
          <a:xfrm>
            <a:off x="3675185" y="2835275"/>
            <a:ext cx="5943600" cy="25400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8152" y="295422"/>
            <a:ext cx="6329841" cy="646331"/>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Activity Diagram </a:t>
            </a:r>
            <a:endParaRPr lang="en-US" sz="3600" b="1" dirty="0">
              <a:latin typeface="Times New Roman" panose="02020603050405020304" pitchFamily="18" charset="0"/>
              <a:cs typeface="Times New Roman" pitchFamily="18" charset="0"/>
            </a:endParaRPr>
          </a:p>
        </p:txBody>
      </p:sp>
      <p:sp>
        <p:nvSpPr>
          <p:cNvPr id="2" name="TextBox 1">
            <a:extLst>
              <a:ext uri="{FF2B5EF4-FFF2-40B4-BE49-F238E27FC236}">
                <a16:creationId xmlns:a16="http://schemas.microsoft.com/office/drawing/2014/main" id="{6D872B81-4C6B-1354-3291-C467DE14E484}"/>
              </a:ext>
            </a:extLst>
          </p:cNvPr>
          <p:cNvSpPr txBox="1"/>
          <p:nvPr/>
        </p:nvSpPr>
        <p:spPr>
          <a:xfrm>
            <a:off x="323557" y="1547446"/>
            <a:ext cx="6196818"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Activity Diagram</a:t>
            </a:r>
            <a:r>
              <a:rPr lang="en-US" dirty="0">
                <a:latin typeface="Times New Roman" panose="02020603050405020304" pitchFamily="18" charset="0"/>
                <a:cs typeface="Times New Roman" panose="02020603050405020304" pitchFamily="18" charset="0"/>
              </a:rPr>
              <a:t> represents the step-by-step workflow of itinerary generation. Users provide destination, dates, budget, and preferences. The system validates input, collects travel data, and uses an AI model to create and optimize the itinerary. Finally, the itinerary is displayed for the user to save or download.</a:t>
            </a:r>
          </a:p>
          <a:p>
            <a:endParaRPr lang="en-IN" dirty="0"/>
          </a:p>
        </p:txBody>
      </p:sp>
      <p:pic>
        <p:nvPicPr>
          <p:cNvPr id="5" name="Picture 4">
            <a:extLst>
              <a:ext uri="{FF2B5EF4-FFF2-40B4-BE49-F238E27FC236}">
                <a16:creationId xmlns:a16="http://schemas.microsoft.com/office/drawing/2014/main" id="{2AF614C7-29DC-00D3-6B0D-CBA9D76A43D5}"/>
              </a:ext>
            </a:extLst>
          </p:cNvPr>
          <p:cNvPicPr/>
          <p:nvPr/>
        </p:nvPicPr>
        <p:blipFill>
          <a:blip r:embed="rId2"/>
          <a:stretch>
            <a:fillRect/>
          </a:stretch>
        </p:blipFill>
        <p:spPr>
          <a:xfrm>
            <a:off x="6570003" y="1214209"/>
            <a:ext cx="3187065" cy="4175125"/>
          </a:xfrm>
          <a:prstGeom prst="rect">
            <a:avLst/>
          </a:prstGeom>
        </p:spPr>
      </p:pic>
    </p:spTree>
    <p:extLst>
      <p:ext uri="{BB962C8B-B14F-4D97-AF65-F5344CB8AC3E}">
        <p14:creationId xmlns:p14="http://schemas.microsoft.com/office/powerpoint/2010/main" val="3113015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7"/>
          <p:cNvSpPr/>
          <p:nvPr/>
        </p:nvSpPr>
        <p:spPr>
          <a:xfrm>
            <a:off x="548970" y="280786"/>
            <a:ext cx="8978760" cy="81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IN" sz="2400" b="1" strike="noStrike" spc="-1" dirty="0">
                <a:solidFill>
                  <a:srgbClr val="000000"/>
                </a:solidFill>
                <a:latin typeface="Times New Roman" panose="02020603050405020304" pitchFamily="18" charset="0"/>
                <a:ea typeface="DejaVu Sans"/>
                <a:cs typeface="Times New Roman" panose="02020603050405020304" pitchFamily="18" charset="0"/>
              </a:rPr>
              <a:t>Modules</a:t>
            </a:r>
            <a:endParaRPr lang="en-IN" sz="24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2571C4AE-1CAE-293E-CC04-EDD8E103FDC6}"/>
              </a:ext>
            </a:extLst>
          </p:cNvPr>
          <p:cNvSpPr>
            <a:spLocks noChangeArrowheads="1"/>
          </p:cNvSpPr>
          <p:nvPr/>
        </p:nvSpPr>
        <p:spPr bwMode="auto">
          <a:xfrm>
            <a:off x="1006169" y="941630"/>
            <a:ext cx="8440867" cy="4134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spcAft>
                <a:spcPts val="800"/>
              </a:spcAft>
            </a:pPr>
            <a:r>
              <a:rPr lang="en-US" dirty="0">
                <a:latin typeface="Times New Roman"/>
                <a:ea typeface="Times New Roman"/>
                <a:cs typeface="Times New Roman"/>
              </a:rPr>
              <a:t>1. User Interface Module</a:t>
            </a:r>
            <a:endParaRPr lang="en-US" sz="1600" dirty="0">
              <a:latin typeface="Calibri"/>
              <a:ea typeface="Calibri"/>
              <a:cs typeface="Times New Roman"/>
            </a:endParaRPr>
          </a:p>
          <a:p>
            <a:pPr>
              <a:lnSpc>
                <a:spcPct val="150000"/>
              </a:lnSpc>
              <a:spcAft>
                <a:spcPts val="800"/>
              </a:spcAft>
            </a:pPr>
            <a:r>
              <a:rPr lang="en-US" dirty="0">
                <a:latin typeface="Times New Roman"/>
                <a:ea typeface="Times New Roman"/>
                <a:cs typeface="Times New Roman"/>
              </a:rPr>
              <a:t>2. User Profile and Preferences Module</a:t>
            </a:r>
            <a:endParaRPr lang="en-US" sz="1600" dirty="0">
              <a:latin typeface="Calibri"/>
              <a:ea typeface="Calibri"/>
              <a:cs typeface="Times New Roman"/>
            </a:endParaRPr>
          </a:p>
          <a:p>
            <a:pPr>
              <a:lnSpc>
                <a:spcPct val="150000"/>
              </a:lnSpc>
              <a:spcAft>
                <a:spcPts val="800"/>
              </a:spcAft>
            </a:pPr>
            <a:r>
              <a:rPr lang="en-US" dirty="0">
                <a:latin typeface="Times New Roman"/>
                <a:ea typeface="Times New Roman"/>
                <a:cs typeface="Times New Roman"/>
              </a:rPr>
              <a:t>3. Destination and Activity Recommendation Engine</a:t>
            </a:r>
            <a:endParaRPr lang="en-US" sz="1600" dirty="0">
              <a:latin typeface="Calibri"/>
              <a:ea typeface="Calibri"/>
              <a:cs typeface="Times New Roman"/>
            </a:endParaRPr>
          </a:p>
          <a:p>
            <a:pPr>
              <a:lnSpc>
                <a:spcPct val="150000"/>
              </a:lnSpc>
              <a:spcAft>
                <a:spcPts val="800"/>
              </a:spcAft>
            </a:pPr>
            <a:r>
              <a:rPr lang="en-US" dirty="0">
                <a:latin typeface="Times New Roman"/>
                <a:ea typeface="Times New Roman"/>
                <a:cs typeface="Times New Roman"/>
              </a:rPr>
              <a:t>4. Itinerary Planner and Scheduler Module</a:t>
            </a:r>
            <a:endParaRPr lang="en-US" sz="1600" dirty="0">
              <a:latin typeface="Calibri"/>
              <a:ea typeface="Calibri"/>
              <a:cs typeface="Times New Roman"/>
            </a:endParaRPr>
          </a:p>
          <a:p>
            <a:pPr>
              <a:lnSpc>
                <a:spcPct val="150000"/>
              </a:lnSpc>
              <a:spcAft>
                <a:spcPts val="800"/>
              </a:spcAft>
            </a:pPr>
            <a:r>
              <a:rPr lang="en-US" dirty="0">
                <a:latin typeface="Times New Roman"/>
                <a:ea typeface="Times New Roman"/>
                <a:cs typeface="Times New Roman"/>
              </a:rPr>
              <a:t>5. Transport and Accommodation Integration Module</a:t>
            </a:r>
            <a:endParaRPr lang="en-US" sz="1600" dirty="0">
              <a:latin typeface="Calibri"/>
              <a:ea typeface="Calibri"/>
              <a:cs typeface="Times New Roman"/>
            </a:endParaRPr>
          </a:p>
          <a:p>
            <a:pPr>
              <a:lnSpc>
                <a:spcPct val="150000"/>
              </a:lnSpc>
              <a:spcAft>
                <a:spcPts val="800"/>
              </a:spcAft>
            </a:pPr>
            <a:r>
              <a:rPr lang="en-US" dirty="0">
                <a:latin typeface="Times New Roman"/>
                <a:ea typeface="Times New Roman"/>
                <a:cs typeface="Times New Roman"/>
              </a:rPr>
              <a:t>6. Budget Estimation and Expense Tracker Module</a:t>
            </a:r>
            <a:endParaRPr lang="en-US" sz="1600" dirty="0">
              <a:latin typeface="Calibri"/>
              <a:ea typeface="Calibri"/>
              <a:cs typeface="Times New Roman"/>
            </a:endParaRPr>
          </a:p>
          <a:p>
            <a:pPr>
              <a:lnSpc>
                <a:spcPct val="150000"/>
              </a:lnSpc>
              <a:spcAft>
                <a:spcPts val="800"/>
              </a:spcAft>
            </a:pPr>
            <a:r>
              <a:rPr lang="en-US" dirty="0">
                <a:latin typeface="Times New Roman"/>
                <a:ea typeface="Times New Roman"/>
                <a:cs typeface="Times New Roman"/>
              </a:rPr>
              <a:t>7. Weather and Travel Advisory Module</a:t>
            </a:r>
            <a:endParaRPr lang="en-US" sz="1600" dirty="0">
              <a:latin typeface="Calibri"/>
              <a:ea typeface="Calibri"/>
              <a:cs typeface="Times New Roman"/>
            </a:endParaRPr>
          </a:p>
          <a:p>
            <a:pPr>
              <a:lnSpc>
                <a:spcPct val="150000"/>
              </a:lnSpc>
              <a:spcAft>
                <a:spcPts val="800"/>
              </a:spcAft>
            </a:pPr>
            <a:r>
              <a:rPr lang="en-US" dirty="0">
                <a:latin typeface="Times New Roman"/>
                <a:ea typeface="Times New Roman"/>
                <a:cs typeface="Times New Roman"/>
              </a:rPr>
              <a:t>8. Feedback and Review Module</a:t>
            </a:r>
            <a:endParaRPr lang="en-US" sz="1600" dirty="0">
              <a:latin typeface="Calibri"/>
              <a:ea typeface="Calibri"/>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p:nvPr/>
        </p:nvPicPr>
        <p:blipFill>
          <a:blip r:embed="rId2"/>
          <a:stretch>
            <a:fillRect/>
          </a:stretch>
        </p:blipFill>
        <p:spPr>
          <a:xfrm>
            <a:off x="203982" y="225082"/>
            <a:ext cx="9636369" cy="5247249"/>
          </a:xfrm>
          <a:prstGeom prst="rect">
            <a:avLst/>
          </a:prstGeom>
        </p:spPr>
      </p:pic>
    </p:spTree>
    <p:extLst>
      <p:ext uri="{BB962C8B-B14F-4D97-AF65-F5344CB8AC3E}">
        <p14:creationId xmlns:p14="http://schemas.microsoft.com/office/powerpoint/2010/main" val="3604280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p:nvPr/>
        </p:nvPicPr>
        <p:blipFill>
          <a:blip r:embed="rId2"/>
          <a:stretch>
            <a:fillRect/>
          </a:stretch>
        </p:blipFill>
        <p:spPr>
          <a:xfrm>
            <a:off x="175846" y="211015"/>
            <a:ext cx="9706708" cy="5247249"/>
          </a:xfrm>
          <a:prstGeom prst="rect">
            <a:avLst/>
          </a:prstGeom>
        </p:spPr>
      </p:pic>
    </p:spTree>
    <p:extLst>
      <p:ext uri="{BB962C8B-B14F-4D97-AF65-F5344CB8AC3E}">
        <p14:creationId xmlns:p14="http://schemas.microsoft.com/office/powerpoint/2010/main" val="113995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p:nvPr/>
        </p:nvPicPr>
        <p:blipFill>
          <a:blip r:embed="rId2"/>
          <a:stretch>
            <a:fillRect/>
          </a:stretch>
        </p:blipFill>
        <p:spPr>
          <a:xfrm>
            <a:off x="168812" y="211016"/>
            <a:ext cx="9741877" cy="5254282"/>
          </a:xfrm>
          <a:prstGeom prst="rect">
            <a:avLst/>
          </a:prstGeom>
        </p:spPr>
      </p:pic>
    </p:spTree>
    <p:extLst>
      <p:ext uri="{BB962C8B-B14F-4D97-AF65-F5344CB8AC3E}">
        <p14:creationId xmlns:p14="http://schemas.microsoft.com/office/powerpoint/2010/main" val="2684557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p:nvPr/>
        </p:nvPicPr>
        <p:blipFill>
          <a:blip r:embed="rId2"/>
          <a:stretch>
            <a:fillRect/>
          </a:stretch>
        </p:blipFill>
        <p:spPr>
          <a:xfrm>
            <a:off x="189914" y="225084"/>
            <a:ext cx="9713741" cy="5247248"/>
          </a:xfrm>
          <a:prstGeom prst="rect">
            <a:avLst/>
          </a:prstGeom>
        </p:spPr>
      </p:pic>
    </p:spTree>
    <p:extLst>
      <p:ext uri="{BB962C8B-B14F-4D97-AF65-F5344CB8AC3E}">
        <p14:creationId xmlns:p14="http://schemas.microsoft.com/office/powerpoint/2010/main" val="7336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p:nvPr/>
        </p:nvPicPr>
        <p:blipFill>
          <a:blip r:embed="rId2"/>
          <a:stretch>
            <a:fillRect/>
          </a:stretch>
        </p:blipFill>
        <p:spPr>
          <a:xfrm>
            <a:off x="182880" y="225084"/>
            <a:ext cx="9692640" cy="5282418"/>
          </a:xfrm>
          <a:prstGeom prst="rect">
            <a:avLst/>
          </a:prstGeom>
        </p:spPr>
      </p:pic>
    </p:spTree>
    <p:extLst>
      <p:ext uri="{BB962C8B-B14F-4D97-AF65-F5344CB8AC3E}">
        <p14:creationId xmlns:p14="http://schemas.microsoft.com/office/powerpoint/2010/main" val="3436068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p:nvPr/>
        </p:nvPicPr>
        <p:blipFill>
          <a:blip r:embed="rId2"/>
          <a:stretch>
            <a:fillRect/>
          </a:stretch>
        </p:blipFill>
        <p:spPr>
          <a:xfrm>
            <a:off x="175846" y="218050"/>
            <a:ext cx="9699673" cy="5261316"/>
          </a:xfrm>
          <a:prstGeom prst="rect">
            <a:avLst/>
          </a:prstGeom>
        </p:spPr>
      </p:pic>
    </p:spTree>
    <p:extLst>
      <p:ext uri="{BB962C8B-B14F-4D97-AF65-F5344CB8AC3E}">
        <p14:creationId xmlns:p14="http://schemas.microsoft.com/office/powerpoint/2010/main" val="3634582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p:nvPr/>
        </p:nvPicPr>
        <p:blipFill>
          <a:blip r:embed="rId2"/>
          <a:stretch>
            <a:fillRect/>
          </a:stretch>
        </p:blipFill>
        <p:spPr>
          <a:xfrm>
            <a:off x="168812" y="211015"/>
            <a:ext cx="9706707" cy="524724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F02837-69E7-F570-94A1-F410F148CCE6}"/>
              </a:ext>
            </a:extLst>
          </p:cNvPr>
          <p:cNvSpPr txBox="1"/>
          <p:nvPr/>
        </p:nvSpPr>
        <p:spPr>
          <a:xfrm>
            <a:off x="3761815" y="435057"/>
            <a:ext cx="504102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012400A7-CB27-3D65-CD21-44DDFBB3A8EA}"/>
              </a:ext>
            </a:extLst>
          </p:cNvPr>
          <p:cNvSpPr>
            <a:spLocks noChangeArrowheads="1"/>
          </p:cNvSpPr>
          <p:nvPr/>
        </p:nvSpPr>
        <p:spPr bwMode="auto">
          <a:xfrm>
            <a:off x="588556" y="1054142"/>
            <a:ext cx="8716809" cy="4202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a:latin typeface="Times New Roman"/>
                <a:ea typeface="Calibri"/>
                <a:cs typeface="Times New Roman"/>
              </a:rPr>
              <a:t>The </a:t>
            </a:r>
            <a:r>
              <a:rPr lang="en-IN" i="1" dirty="0">
                <a:latin typeface="Times New Roman"/>
                <a:ea typeface="Calibri"/>
                <a:cs typeface="Times New Roman"/>
              </a:rPr>
              <a:t>Travel Plan Itinerary Generator</a:t>
            </a:r>
            <a:r>
              <a:rPr lang="en-IN" dirty="0">
                <a:latin typeface="Times New Roman"/>
                <a:ea typeface="Calibri"/>
                <a:cs typeface="Times New Roman"/>
              </a:rPr>
              <a:t> offers an intelligent and user-centric approach to planning personalized travel experiences. By integrating user preferences, real-time data, and optimization algorithms, the system automates itinerary creation to deliver efficient, enjoyable, and customizable travel plans. The platform enhances the travel experience by considering factors such as location proximity, opening hours, budget, travel time, and user interests. This not only simplifies the traditionally time-consuming process of trip planning but also makes travel more accessible and tailored to individual needs. The adoption of such technology demonstrates the power of AI and data-driven solutions in the tourism and hospitality sectors, offering practical benefits for both casual tourists and travel professionals.</a:t>
            </a:r>
            <a:endParaRPr lang="en-US" sz="1400" dirty="0">
              <a:latin typeface="Calibri"/>
              <a:ea typeface="Calibri"/>
              <a:cs typeface="Times New Roman"/>
            </a:endParaRPr>
          </a:p>
        </p:txBody>
      </p:sp>
    </p:spTree>
    <p:extLst>
      <p:ext uri="{BB962C8B-B14F-4D97-AF65-F5344CB8AC3E}">
        <p14:creationId xmlns:p14="http://schemas.microsoft.com/office/powerpoint/2010/main" val="2421307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5A5E8B-BA49-8881-A56C-446675C4133C}"/>
              </a:ext>
            </a:extLst>
          </p:cNvPr>
          <p:cNvSpPr txBox="1"/>
          <p:nvPr/>
        </p:nvSpPr>
        <p:spPr>
          <a:xfrm>
            <a:off x="3425639" y="392860"/>
            <a:ext cx="504102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Future work</a:t>
            </a:r>
          </a:p>
        </p:txBody>
      </p:sp>
      <p:sp>
        <p:nvSpPr>
          <p:cNvPr id="4" name="Rectangle 1">
            <a:extLst>
              <a:ext uri="{FF2B5EF4-FFF2-40B4-BE49-F238E27FC236}">
                <a16:creationId xmlns:a16="http://schemas.microsoft.com/office/drawing/2014/main" id="{E44B1C4B-0455-4877-9244-EEF3D798AF86}"/>
              </a:ext>
            </a:extLst>
          </p:cNvPr>
          <p:cNvSpPr>
            <a:spLocks noChangeArrowheads="1"/>
          </p:cNvSpPr>
          <p:nvPr/>
        </p:nvSpPr>
        <p:spPr bwMode="auto">
          <a:xfrm>
            <a:off x="692682" y="922596"/>
            <a:ext cx="8641474" cy="4202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spcAft>
                <a:spcPts val="800"/>
              </a:spcAft>
            </a:pPr>
            <a:r>
              <a:rPr lang="en-IN" dirty="0">
                <a:latin typeface="Times New Roman"/>
                <a:ea typeface="Times New Roman"/>
                <a:cs typeface="Times New Roman"/>
              </a:rPr>
              <a:t>Future enhancements of the itinerary generator could include deeper integration of AI, such as natural language processing to understand user intent more accurately, and machine learning to recommend destinations based on user history and </a:t>
            </a:r>
            <a:r>
              <a:rPr lang="en-IN" dirty="0" err="1">
                <a:latin typeface="Times New Roman"/>
                <a:ea typeface="Times New Roman"/>
                <a:cs typeface="Times New Roman"/>
              </a:rPr>
              <a:t>behavior</a:t>
            </a:r>
            <a:r>
              <a:rPr lang="en-IN" dirty="0">
                <a:latin typeface="Times New Roman"/>
                <a:ea typeface="Times New Roman"/>
                <a:cs typeface="Times New Roman"/>
              </a:rPr>
              <a:t>. Incorporating real-time updates like weather forecasts, local events, and transport delays can make itineraries more adaptive and reliable. Another area of development involves integrating social media sentiment analysis to refine recommendations based on recent </a:t>
            </a:r>
            <a:r>
              <a:rPr lang="en-IN" dirty="0" err="1">
                <a:latin typeface="Times New Roman"/>
                <a:ea typeface="Times New Roman"/>
                <a:cs typeface="Times New Roman"/>
              </a:rPr>
              <a:t>traveler</a:t>
            </a:r>
            <a:r>
              <a:rPr lang="en-IN" dirty="0">
                <a:latin typeface="Times New Roman"/>
                <a:ea typeface="Times New Roman"/>
                <a:cs typeface="Times New Roman"/>
              </a:rPr>
              <a:t> reviews. Enhancing multi-user itinerary collaboration will be useful for group travel planning. Finally, implementing augmented reality features for on-the-go exploration and combining </a:t>
            </a:r>
            <a:r>
              <a:rPr lang="en-IN" dirty="0" err="1">
                <a:latin typeface="Times New Roman"/>
                <a:ea typeface="Times New Roman"/>
                <a:cs typeface="Times New Roman"/>
              </a:rPr>
              <a:t>blockchain</a:t>
            </a:r>
            <a:r>
              <a:rPr lang="en-IN" dirty="0">
                <a:latin typeface="Times New Roman"/>
                <a:ea typeface="Times New Roman"/>
                <a:cs typeface="Times New Roman"/>
              </a:rPr>
              <a:t> for secure travel transactions and identity verification could make the platform a more robust, trustworthy solution in the smart tourism ecosystem.</a:t>
            </a:r>
            <a:endParaRPr lang="en-US" sz="1400" dirty="0">
              <a:latin typeface="Calibri"/>
              <a:ea typeface="Calibri"/>
              <a:cs typeface="Times New Roman"/>
            </a:endParaRPr>
          </a:p>
        </p:txBody>
      </p:sp>
    </p:spTree>
    <p:extLst>
      <p:ext uri="{BB962C8B-B14F-4D97-AF65-F5344CB8AC3E}">
        <p14:creationId xmlns:p14="http://schemas.microsoft.com/office/powerpoint/2010/main" val="3826949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F5C202-A8AF-CB20-14FE-1BC7A0FB86ED}"/>
              </a:ext>
            </a:extLst>
          </p:cNvPr>
          <p:cNvSpPr txBox="1"/>
          <p:nvPr/>
        </p:nvSpPr>
        <p:spPr>
          <a:xfrm>
            <a:off x="2299795" y="295951"/>
            <a:ext cx="5041024"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Reference</a:t>
            </a:r>
          </a:p>
        </p:txBody>
      </p:sp>
      <p:sp>
        <p:nvSpPr>
          <p:cNvPr id="4" name="Rectangle 1">
            <a:extLst>
              <a:ext uri="{FF2B5EF4-FFF2-40B4-BE49-F238E27FC236}">
                <a16:creationId xmlns:a16="http://schemas.microsoft.com/office/drawing/2014/main" id="{E0363BAD-9D9D-747A-CFE6-730AB53B6F35}"/>
              </a:ext>
            </a:extLst>
          </p:cNvPr>
          <p:cNvSpPr>
            <a:spLocks noChangeArrowheads="1"/>
          </p:cNvSpPr>
          <p:nvPr/>
        </p:nvSpPr>
        <p:spPr bwMode="auto">
          <a:xfrm>
            <a:off x="630457" y="917846"/>
            <a:ext cx="894384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50000"/>
              </a:lnSpc>
              <a:buFont typeface="+mj-lt"/>
              <a:buAutoNum type="arabicPeriod"/>
              <a:tabLst>
                <a:tab pos="318770" algn="l"/>
              </a:tabLst>
            </a:pPr>
            <a:r>
              <a:rPr lang="en-US" dirty="0" err="1">
                <a:latin typeface="Times New Roman"/>
                <a:ea typeface="Times New Roman"/>
              </a:rPr>
              <a:t>Borràs</a:t>
            </a:r>
            <a:r>
              <a:rPr lang="en-US" dirty="0">
                <a:latin typeface="Times New Roman"/>
                <a:ea typeface="Times New Roman"/>
              </a:rPr>
              <a:t>, J., Moreno, A., &amp; </a:t>
            </a:r>
            <a:r>
              <a:rPr lang="en-US" dirty="0" err="1">
                <a:latin typeface="Times New Roman"/>
                <a:ea typeface="Times New Roman"/>
              </a:rPr>
              <a:t>Valls</a:t>
            </a:r>
            <a:r>
              <a:rPr lang="en-US" dirty="0">
                <a:latin typeface="Times New Roman"/>
                <a:ea typeface="Times New Roman"/>
              </a:rPr>
              <a:t>, A. (2014). Intelligent tourism recommender systems: A survey. </a:t>
            </a:r>
            <a:r>
              <a:rPr lang="en-US" i="1" dirty="0">
                <a:latin typeface="Times New Roman"/>
                <a:ea typeface="Times New Roman"/>
              </a:rPr>
              <a:t>Expert Systems with Applications</a:t>
            </a:r>
            <a:r>
              <a:rPr lang="en-US" dirty="0">
                <a:latin typeface="Times New Roman"/>
                <a:ea typeface="Times New Roman"/>
              </a:rPr>
              <a:t>, 41(16), 7370–7389.</a:t>
            </a:r>
            <a:endParaRPr lang="en-US" sz="1600" dirty="0">
              <a:latin typeface="Times New Roman"/>
              <a:ea typeface="Times New Roman"/>
            </a:endParaRPr>
          </a:p>
          <a:p>
            <a:pPr marL="342900" lvl="0" indent="-342900" algn="just">
              <a:lnSpc>
                <a:spcPct val="150000"/>
              </a:lnSpc>
              <a:buFont typeface="+mj-lt"/>
              <a:buAutoNum type="arabicPeriod"/>
              <a:tabLst>
                <a:tab pos="318770" algn="l"/>
              </a:tabLst>
            </a:pPr>
            <a:r>
              <a:rPr lang="en-US" dirty="0" err="1">
                <a:latin typeface="Times New Roman"/>
                <a:ea typeface="Times New Roman"/>
              </a:rPr>
              <a:t>Gavalas</a:t>
            </a:r>
            <a:r>
              <a:rPr lang="en-US" dirty="0">
                <a:latin typeface="Times New Roman"/>
                <a:ea typeface="Times New Roman"/>
              </a:rPr>
              <a:t>, D., </a:t>
            </a:r>
            <a:r>
              <a:rPr lang="en-US" dirty="0" err="1">
                <a:latin typeface="Times New Roman"/>
                <a:ea typeface="Times New Roman"/>
              </a:rPr>
              <a:t>Konstantopoulos</a:t>
            </a:r>
            <a:r>
              <a:rPr lang="en-US" dirty="0">
                <a:latin typeface="Times New Roman"/>
                <a:ea typeface="Times New Roman"/>
              </a:rPr>
              <a:t>, C., </a:t>
            </a:r>
            <a:r>
              <a:rPr lang="en-US" dirty="0" err="1">
                <a:latin typeface="Times New Roman"/>
                <a:ea typeface="Times New Roman"/>
              </a:rPr>
              <a:t>Mastakas</a:t>
            </a:r>
            <a:r>
              <a:rPr lang="en-US" dirty="0">
                <a:latin typeface="Times New Roman"/>
                <a:ea typeface="Times New Roman"/>
              </a:rPr>
              <a:t>, K., &amp; </a:t>
            </a:r>
            <a:r>
              <a:rPr lang="en-US" dirty="0" err="1">
                <a:latin typeface="Times New Roman"/>
                <a:ea typeface="Times New Roman"/>
              </a:rPr>
              <a:t>Pantziou</a:t>
            </a:r>
            <a:r>
              <a:rPr lang="en-US" dirty="0">
                <a:latin typeface="Times New Roman"/>
                <a:ea typeface="Times New Roman"/>
              </a:rPr>
              <a:t>, G. (2014). Web application for personalized trip planning. </a:t>
            </a:r>
            <a:r>
              <a:rPr lang="en-US" i="1" dirty="0">
                <a:latin typeface="Times New Roman"/>
                <a:ea typeface="Times New Roman"/>
              </a:rPr>
              <a:t>Expert Systems with Applications</a:t>
            </a:r>
            <a:r>
              <a:rPr lang="en-US" dirty="0">
                <a:latin typeface="Times New Roman"/>
                <a:ea typeface="Times New Roman"/>
              </a:rPr>
              <a:t>, 41(16), 7231–7240.</a:t>
            </a:r>
            <a:endParaRPr lang="en-US" sz="1600" dirty="0">
              <a:latin typeface="Times New Roman"/>
              <a:ea typeface="Times New Roman"/>
            </a:endParaRPr>
          </a:p>
          <a:p>
            <a:pPr marL="342900" lvl="0" indent="-342900" algn="just">
              <a:lnSpc>
                <a:spcPct val="150000"/>
              </a:lnSpc>
              <a:buFont typeface="+mj-lt"/>
              <a:buAutoNum type="arabicPeriod"/>
              <a:tabLst>
                <a:tab pos="318770" algn="l"/>
              </a:tabLst>
            </a:pPr>
            <a:r>
              <a:rPr lang="en-US" dirty="0" err="1">
                <a:latin typeface="Times New Roman"/>
                <a:ea typeface="Times New Roman"/>
              </a:rPr>
              <a:t>Xu</a:t>
            </a:r>
            <a:r>
              <a:rPr lang="en-US" dirty="0">
                <a:latin typeface="Times New Roman"/>
                <a:ea typeface="Times New Roman"/>
              </a:rPr>
              <a:t>, Z., et al. (2020). </a:t>
            </a:r>
            <a:r>
              <a:rPr lang="en-US" dirty="0" err="1">
                <a:latin typeface="Times New Roman"/>
                <a:ea typeface="Times New Roman"/>
              </a:rPr>
              <a:t>TripRec</a:t>
            </a:r>
            <a:r>
              <a:rPr lang="en-US" dirty="0">
                <a:latin typeface="Times New Roman"/>
                <a:ea typeface="Times New Roman"/>
              </a:rPr>
              <a:t>: A novel framework for personalized trip recommendation. </a:t>
            </a:r>
            <a:r>
              <a:rPr lang="en-US" i="1" dirty="0">
                <a:latin typeface="Times New Roman"/>
                <a:ea typeface="Times New Roman"/>
              </a:rPr>
              <a:t>ACM Transactions on Intelligent Systems and Technology</a:t>
            </a:r>
            <a:r>
              <a:rPr lang="en-US" dirty="0">
                <a:latin typeface="Times New Roman"/>
                <a:ea typeface="Times New Roman"/>
              </a:rPr>
              <a:t>, 11(3), 1–24.</a:t>
            </a:r>
            <a:endParaRPr lang="en-US" sz="1600" dirty="0">
              <a:latin typeface="Times New Roman"/>
              <a:ea typeface="Times New Roman"/>
            </a:endParaRPr>
          </a:p>
          <a:p>
            <a:pPr marL="342900" lvl="0" indent="-342900" algn="just">
              <a:lnSpc>
                <a:spcPct val="150000"/>
              </a:lnSpc>
              <a:buFont typeface="+mj-lt"/>
              <a:buAutoNum type="arabicPeriod"/>
              <a:tabLst>
                <a:tab pos="318770" algn="l"/>
              </a:tabLst>
            </a:pPr>
            <a:r>
              <a:rPr lang="en-US" dirty="0" err="1">
                <a:latin typeface="Times New Roman"/>
                <a:ea typeface="Times New Roman"/>
              </a:rPr>
              <a:t>Aliannejadi</a:t>
            </a:r>
            <a:r>
              <a:rPr lang="en-US" dirty="0">
                <a:latin typeface="Times New Roman"/>
                <a:ea typeface="Times New Roman"/>
              </a:rPr>
              <a:t>, M., et al. (2019). Personalized itinerary recommendation for tourists based on user reviews. </a:t>
            </a:r>
            <a:r>
              <a:rPr lang="en-US" i="1" dirty="0">
                <a:latin typeface="Times New Roman"/>
                <a:ea typeface="Times New Roman"/>
              </a:rPr>
              <a:t>Information Processing &amp; Management</a:t>
            </a:r>
            <a:r>
              <a:rPr lang="en-US" dirty="0">
                <a:latin typeface="Times New Roman"/>
                <a:ea typeface="Times New Roman"/>
              </a:rPr>
              <a:t>, 56(6), 102091.</a:t>
            </a:r>
            <a:endParaRPr lang="en-US" sz="1600" dirty="0">
              <a:latin typeface="Times New Roman"/>
              <a:ea typeface="Times New Roman"/>
            </a:endParaRPr>
          </a:p>
        </p:txBody>
      </p:sp>
    </p:spTree>
    <p:extLst>
      <p:ext uri="{BB962C8B-B14F-4D97-AF65-F5344CB8AC3E}">
        <p14:creationId xmlns:p14="http://schemas.microsoft.com/office/powerpoint/2010/main" val="3800705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4F27C7C-BEEF-C488-F786-980A6FC08CF4}"/>
              </a:ext>
            </a:extLst>
          </p:cNvPr>
          <p:cNvSpPr>
            <a:spLocks noGrp="1"/>
          </p:cNvSpPr>
          <p:nvPr>
            <p:ph type="subTitle"/>
          </p:nvPr>
        </p:nvSpPr>
        <p:spPr/>
        <p:txBody>
          <a:bodyPr/>
          <a:lstStyle/>
          <a:p>
            <a:pPr marL="0" indent="0" algn="ctr">
              <a:buNone/>
            </a:pPr>
            <a:r>
              <a:rPr lang="en-US" sz="5400" dirty="0">
                <a:latin typeface="Times New Roman" panose="02020603050405020304" pitchFamily="18" charset="0"/>
                <a:cs typeface="Times New Roman" panose="02020603050405020304" pitchFamily="18" charset="0"/>
              </a:rPr>
              <a:t>THANK YOU</a:t>
            </a:r>
            <a:endParaRPr lang="en-IN"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8757791"/>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TM03457444[[fn=Basis]]</Template>
  <TotalTime>645</TotalTime>
  <Words>1576</Words>
  <Application>Microsoft Office PowerPoint</Application>
  <PresentationFormat>Custom</PresentationFormat>
  <Paragraphs>77</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Corbel</vt:lpstr>
      <vt:lpstr>Symbol</vt:lpstr>
      <vt:lpstr>Times New Roman</vt:lpstr>
      <vt:lpstr>Tw Cen MT</vt:lpstr>
      <vt:lpstr>Wingdings</vt: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perikala Gowtham</dc:creator>
  <cp:lastModifiedBy>manda uday</cp:lastModifiedBy>
  <cp:revision>43</cp:revision>
  <dcterms:created xsi:type="dcterms:W3CDTF">2024-02-19T10:18:03Z</dcterms:created>
  <dcterms:modified xsi:type="dcterms:W3CDTF">2026-01-26T08:34:46Z</dcterms:modified>
  <dc:language>en-IN</dc:language>
</cp:coreProperties>
</file>